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Median retrieval time</c:v>
          </c:tx>
          <c:invertIfNegative val="1"/>
          <c:dPt>
            <c:idx val="0"/>
            <c:invertIfNegative val="0"/>
            <c:bubble3D val="0"/>
            <c:spPr>
              <a:solidFill>
                <a:srgbClr val="5B6475"/>
              </a:solidFill>
            </c:spPr>
            <c:extLst>
              <c:ext xmlns:c16="http://schemas.microsoft.com/office/drawing/2014/chart" uri="{C3380CC4-5D6E-409C-BE32-E72D297353CC}">
                <c16:uniqueId val="{00000001-65D1-4802-AF4D-49F9A28997F2}"/>
              </c:ext>
            </c:extLst>
          </c:dPt>
          <c:dPt>
            <c:idx val="1"/>
            <c:invertIfNegative val="0"/>
            <c:bubble3D val="0"/>
            <c:spPr>
              <a:solidFill>
                <a:srgbClr val="0B3D91"/>
              </a:solidFill>
            </c:spPr>
            <c:extLst>
              <c:ext xmlns:c16="http://schemas.microsoft.com/office/drawing/2014/chart" uri="{C3380CC4-5D6E-409C-BE32-E72D297353CC}">
                <c16:uniqueId val="{00000003-65D1-4802-AF4D-49F9A28997F2}"/>
              </c:ext>
            </c:extLst>
          </c:dPt>
          <c:dLbls>
            <c:spPr>
              <a:noFill/>
              <a:ln>
                <a:noFill/>
              </a:ln>
              <a:effectLst/>
            </c:spPr>
            <c:txPr>
              <a:bodyPr anchorCtr="1"/>
              <a:lstStyle/>
              <a:p>
                <a:pPr>
                  <a:defRPr sz="1200" b="1">
                    <a:solidFill>
                      <a:srgbClr val="1421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Sequential</c:v>
                </c:pt>
                <c:pt idx="1">
                  <c:v>Concurrent</c:v>
                </c:pt>
              </c:strCache>
            </c:strRef>
          </c:cat>
          <c:val>
            <c:numRef>
              <c:f>'Chart Data'!$B$2:$B$3</c:f>
              <c:numCache>
                <c:formatCode>General</c:formatCode>
                <c:ptCount val="2"/>
                <c:pt idx="0">
                  <c:v>1.44</c:v>
                </c:pt>
                <c:pt idx="1">
                  <c:v>0.54400000000000004</c:v>
                </c:pt>
              </c:numCache>
            </c:numRef>
          </c:val>
          <c:extLst>
            <c:ext xmlns:c16="http://schemas.microsoft.com/office/drawing/2014/chart" uri="{C3380CC4-5D6E-409C-BE32-E72D297353CC}">
              <c16:uniqueId val="{00000004-65D1-4802-AF4D-49F9A28997F2}"/>
            </c:ext>
          </c:extLst>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w="9525">
              <a:solidFill>
                <a:srgbClr val="D6DC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475"/>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ln>
        </c:spPr>
        <c:txPr>
          <a:bodyPr anchorCtr="1"/>
          <a:lstStyle/>
          <a:p>
            <a:pPr>
              <a:defRPr sz="1275" b="1">
                <a:solidFill>
                  <a:srgbClr val="14213D"/>
                </a:solidFill>
                <a:latin typeface="Arial"/>
                <a:ea typeface="Arial"/>
                <a:cs typeface="Arial"/>
              </a:defRPr>
            </a:pPr>
            <a:endParaRPr lang="en-US"/>
          </a:p>
        </c:txPr>
        <c:crossAx val="48650112"/>
        <c:crosses val="autoZero"/>
        <c:crossBetween val="between"/>
      </c:valAx>
      <c:spPr>
        <a:solidFill>
          <a:srgbClr val="FFFFFF"/>
        </a:solidFill>
        <a:ln w="0">
          <a:solidFill>
            <a:srgbClr val="FFFFFF"/>
          </a:solidFill>
        </a:ln>
      </c:spPr>
    </c:plotArea>
    <c:plotVisOnly val="1"/>
    <c:dispBlanksAs val="zero"/>
    <c:showDLblsOverMax val="1"/>
  </c:chart>
  <c:spPr>
    <a:solidFill>
      <a:srgbClr val="FFFFFF"/>
    </a:solidFill>
    <a:ln w="0">
      <a:solidFill>
        <a:srgbClr val="FFFFFF"/>
      </a:solid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Opening, about 35 seconds. Introduce the team and the product in one sentence: a user asks a question, the system gathers evidence from three source families in parallel, and Gemini produces one concise answer with numeric citations. State that the deck focuses on the software engineering layer built around the provided AI package. Source: AI-ENG-110 Final Project Brief, Topic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seconds. Explain the product contract, not implementation details. The input is a validated question plus an optional source subset. The output includes a short cited answer, URLs, timings, and degradation warnings. Mention that the CLI is mandatory and the Streamlit interface is the optional bonus built on the same business logic. Source: project brief sections 5.4 and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60 seconds. Walk from left to right. Validation happens once at the boundary. Fetching is concurrent because the sources are independent. The service layer applies reliability policy before evidence reaches Gemini. Citation validation happens after synthesis, and PostgreSQL records the complete audit trail. Emphasize that one failed source does not cancel its siblings. Source: repository docs/architecture.md and core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75 seconds. Identify the boundary explicitly. The supplied ai package remains a thin dependency. Our wrappers add configuration, persistence, retries, timeouts, caching, logging, and citation checks. Explain composition at the AI boundary and inheritance at the repository boundary. The in-memory repository makes tests and offline runs fast, while PostgreSQL supports durable production runs. Source: repository architecture 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70 seconds. The benchmark ran Wikipedia, arXiv, and web retrieval three times with cache bypassed. Median time fell from 1.440 seconds sequentially to 0.544 seconds concurrently, a 2.64 times speedup. The speedup is below three times because the final duration is limited by the slowest provider and normal network variance. The semaphore bounds concurrency to protect provider limits. Source: artefacts/technical-verification-20260916.md.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65 seconds. Explain the failure policy with one concrete case: if arXiv times out, the service retries transient failures. After exhaustion, the orchestrator records a typed warning instead of cancelling Wikipedia and web. Synthesis continues when at least one source succeeds. Citation validation checks structure and mappings, but it cannot prove semantic entailment. Source: source_service.py, orchestrator.py, and synthesis_service.py.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60 seconds. PostgreSQL stores the final result and its evidence relationships in one durable audit trail. The cache key combines the source and normalized question, and entries expire after a configurable TTL, 24 hours by default. The no-cache flag bypasses reads and writes for fresh tests. Docker Compose makes the application and database reproducible on another computer. Source: storage/postgres.py, docker-compose.yml, and project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70 seconds plus the live demonstration. Keep all three sources selected. Ask a prepared question such as 'How do transformer models handle long context windows?' While it runs, point to the source checkboxes. After the answer appears, show the numeric citations, open-source buttons, timings, and session ID. If the network is slow, run scripts/demo.py or show a saved artefact.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65 seconds. Report the verified results: 64 tests pass offline, current coverage is 73.56 percent, and both Ruff and strict mypy pass. Then state limitations honestly. Numeric marker validation confirms that a citation points to a retrieved source, but it does not prove that every claim is semantically entailed. Search quality still depends on upstream results. Source: pytest coverage run on September 17, 2026 and project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Closing, about 40 seconds. Each member states their primary ownership in one sentence. Confirm that the whole team understands the shared architecture and can explain why </a:t>
            </a:r>
            <a:r>
              <a:rPr dirty="0" err="1"/>
              <a:t>asyncio</a:t>
            </a:r>
            <a:r>
              <a:rPr dirty="0"/>
              <a:t>, PostgreSQL, retries, timeouts, and the provider boundary were chosen. Invite questions and move to the live system when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FE5481A-CA35-48D8-BA3A-1CB3B837850D}"/>
              </a:ext>
            </a:extLst>
          </p:cNvPr>
          <p:cNvSpPr>
            <a:spLocks noGrp="1"/>
          </p:cNvSpPr>
          <p:nvPr/>
        </p:nvSpPr>
        <p:spPr>
          <a:xfrm>
            <a:off x="0" y="0"/>
            <a:ext cx="247650" cy="6858000"/>
          </a:xfrm>
          <a:prstGeom prst="rect">
            <a:avLst/>
          </a:prstGeom>
          <a:solidFill>
            <a:srgbClr val="0B3D91"/>
          </a:solidFill>
          <a:ln w="0">
            <a:noFill/>
          </a:ln>
        </p:spPr>
        <p:txBody>
          <a:bodyPr/>
          <a:lstStyle/>
          <a:p>
            <a:endParaRPr lang="en-US"/>
          </a:p>
        </p:txBody>
      </p:sp>
      <p:sp>
        <p:nvSpPr>
          <p:cNvPr id="2" name="Rectangle 1">
            <a:extLst>
              <a:ext uri="{FF2B5EF4-FFF2-40B4-BE49-F238E27FC236}">
                <a16:creationId xmlns:a16="http://schemas.microsoft.com/office/drawing/2014/main" id="{1C8A58C6-9D0C-49C1-9C97-C6E42D4C04F4}"/>
              </a:ext>
            </a:extLst>
          </p:cNvPr>
          <p:cNvSpPr>
            <a:spLocks noGrp="1"/>
          </p:cNvSpPr>
          <p:nvPr/>
        </p:nvSpPr>
        <p:spPr>
          <a:xfrm>
            <a:off x="742950" y="666750"/>
            <a:ext cx="6096000" cy="266700"/>
          </a:xfrm>
          <a:prstGeom prst="rect">
            <a:avLst/>
          </a:prstGeom>
          <a:noFill/>
          <a:ln w="0">
            <a:noFill/>
          </a:ln>
        </p:spPr>
        <p:txBody>
          <a:bodyPr anchor="t">
            <a:normAutofit fontScale="95833"/>
          </a:bodyPr>
          <a:lstStyle/>
          <a:p>
            <a:pPr algn="l">
              <a:defRPr sz="1200" b="1" i="0">
                <a:solidFill>
                  <a:srgbClr val="5B6475"/>
                </a:solidFill>
                <a:latin typeface="Arial"/>
                <a:ea typeface="Arial"/>
                <a:cs typeface="Arial"/>
              </a:defRPr>
            </a:pPr>
            <a:r>
              <a:rPr sz="1200" b="1" i="0">
                <a:solidFill>
                  <a:srgbClr val="5B6475"/>
                </a:solidFill>
                <a:latin typeface="Arial"/>
                <a:ea typeface="Arial"/>
                <a:cs typeface="Arial"/>
              </a:rPr>
              <a:t>AI ACADEMY · NATIONAL AI CENTER</a:t>
            </a:r>
          </a:p>
        </p:txBody>
      </p:sp>
      <p:sp>
        <p:nvSpPr>
          <p:cNvPr id="3" name="Rectangle 2">
            <a:extLst>
              <a:ext uri="{FF2B5EF4-FFF2-40B4-BE49-F238E27FC236}">
                <a16:creationId xmlns:a16="http://schemas.microsoft.com/office/drawing/2014/main" id="{871C5175-03CC-4905-8D25-0953075F929C}"/>
              </a:ext>
            </a:extLst>
          </p:cNvPr>
          <p:cNvSpPr>
            <a:spLocks noGrp="1"/>
          </p:cNvSpPr>
          <p:nvPr/>
        </p:nvSpPr>
        <p:spPr>
          <a:xfrm>
            <a:off x="723900" y="1524000"/>
            <a:ext cx="6572250" cy="1714500"/>
          </a:xfrm>
          <a:prstGeom prst="rect">
            <a:avLst/>
          </a:prstGeom>
          <a:noFill/>
          <a:ln w="0">
            <a:noFill/>
          </a:ln>
        </p:spPr>
        <p:txBody>
          <a:bodyPr anchor="t">
            <a:normAutofit/>
          </a:bodyPr>
          <a:lstStyle/>
          <a:p>
            <a:pPr algn="l">
              <a:defRPr sz="4200" b="1" i="0">
                <a:solidFill>
                  <a:srgbClr val="0B3D91"/>
                </a:solidFill>
                <a:latin typeface="Arial"/>
                <a:ea typeface="Arial"/>
                <a:cs typeface="Arial"/>
              </a:defRPr>
            </a:pPr>
            <a:r>
              <a:rPr sz="4200" b="1" i="0">
                <a:solidFill>
                  <a:srgbClr val="0B3D91"/>
                </a:solidFill>
                <a:latin typeface="Arial"/>
                <a:ea typeface="Arial"/>
                <a:cs typeface="Arial"/>
              </a:rPr>
              <a:t>Async Research</a:t>
            </a:r>
          </a:p>
          <a:p>
            <a:pPr algn="l">
              <a:defRPr sz="4200" b="1" i="0">
                <a:solidFill>
                  <a:srgbClr val="0B3D91"/>
                </a:solidFill>
                <a:latin typeface="Arial"/>
                <a:ea typeface="Arial"/>
                <a:cs typeface="Arial"/>
              </a:defRPr>
            </a:pPr>
            <a:r>
              <a:rPr sz="4200" b="1" i="0">
                <a:solidFill>
                  <a:srgbClr val="0B3D91"/>
                </a:solidFill>
                <a:latin typeface="Arial"/>
                <a:ea typeface="Arial"/>
                <a:cs typeface="Arial"/>
              </a:rPr>
              <a:t>Assistant</a:t>
            </a:r>
          </a:p>
        </p:txBody>
      </p:sp>
      <p:sp>
        <p:nvSpPr>
          <p:cNvPr id="4" name="Rectangle 3">
            <a:extLst>
              <a:ext uri="{FF2B5EF4-FFF2-40B4-BE49-F238E27FC236}">
                <a16:creationId xmlns:a16="http://schemas.microsoft.com/office/drawing/2014/main" id="{FF56BDB6-BC74-4563-820F-4D9B9107A96D}"/>
              </a:ext>
            </a:extLst>
          </p:cNvPr>
          <p:cNvSpPr>
            <a:spLocks noGrp="1"/>
          </p:cNvSpPr>
          <p:nvPr/>
        </p:nvSpPr>
        <p:spPr>
          <a:xfrm>
            <a:off x="762000" y="3429000"/>
            <a:ext cx="6477000" cy="571500"/>
          </a:xfrm>
          <a:prstGeom prst="rect">
            <a:avLst/>
          </a:prstGeom>
          <a:noFill/>
          <a:ln w="0">
            <a:noFill/>
          </a:ln>
        </p:spPr>
        <p:txBody>
          <a:bodyPr anchor="t">
            <a:normAutofit/>
          </a:bodyPr>
          <a:lstStyle/>
          <a:p>
            <a:pPr algn="l">
              <a:defRPr sz="1875" b="0" i="0">
                <a:solidFill>
                  <a:srgbClr val="14213D"/>
                </a:solidFill>
                <a:latin typeface="Arial"/>
                <a:ea typeface="Arial"/>
                <a:cs typeface="Arial"/>
              </a:defRPr>
            </a:pPr>
            <a:r>
              <a:rPr sz="1875" b="0" i="0">
                <a:solidFill>
                  <a:srgbClr val="14213D"/>
                </a:solidFill>
                <a:latin typeface="Arial"/>
                <a:ea typeface="Arial"/>
                <a:cs typeface="Arial"/>
              </a:rPr>
              <a:t>A resilient, concurrent system for cited research answers</a:t>
            </a:r>
          </a:p>
        </p:txBody>
      </p:sp>
      <p:sp>
        <p:nvSpPr>
          <p:cNvPr id="5" name="Rectangle: Rounded Corners 4">
            <a:extLst>
              <a:ext uri="{FF2B5EF4-FFF2-40B4-BE49-F238E27FC236}">
                <a16:creationId xmlns:a16="http://schemas.microsoft.com/office/drawing/2014/main" id="{CABC3AE1-9E6C-47D3-A755-1F4046B97866}"/>
              </a:ext>
            </a:extLst>
          </p:cNvPr>
          <p:cNvSpPr>
            <a:spLocks noGrp="1"/>
          </p:cNvSpPr>
          <p:nvPr/>
        </p:nvSpPr>
        <p:spPr>
          <a:xfrm>
            <a:off x="8048625" y="1381125"/>
            <a:ext cx="1809750" cy="876300"/>
          </a:xfrm>
          <a:prstGeom prst="roundRect">
            <a:avLst>
              <a:gd name="adj" fmla="val 8696"/>
            </a:avLst>
          </a:prstGeom>
          <a:solidFill>
            <a:srgbClr val="EAF1FB"/>
          </a:solidFill>
          <a:ln w="9525">
            <a:solidFill>
              <a:srgbClr val="0B3D91"/>
            </a:solidFill>
            <a:prstDash val="solid"/>
          </a:ln>
        </p:spPr>
        <p:txBody>
          <a:bodyPr anchor="ctr">
            <a:normAutofit/>
          </a:bodyPr>
          <a:lstStyle/>
          <a:p>
            <a:pPr algn="ctr">
              <a:defRPr sz="1575" b="1">
                <a:solidFill>
                  <a:srgbClr val="0B3D91"/>
                </a:solidFill>
                <a:latin typeface="Arial"/>
                <a:ea typeface="Arial"/>
                <a:cs typeface="Arial"/>
              </a:defRPr>
            </a:pPr>
            <a:r>
              <a:rPr sz="1575" b="1">
                <a:solidFill>
                  <a:srgbClr val="0B3D91"/>
                </a:solidFill>
                <a:latin typeface="Arial"/>
                <a:ea typeface="Arial"/>
                <a:cs typeface="Arial"/>
              </a:rPr>
              <a:t>Research</a:t>
            </a:r>
          </a:p>
          <a:p>
            <a:pPr algn="ctr">
              <a:defRPr sz="1575" b="1">
                <a:solidFill>
                  <a:srgbClr val="0B3D91"/>
                </a:solidFill>
                <a:latin typeface="Arial"/>
                <a:ea typeface="Arial"/>
                <a:cs typeface="Arial"/>
              </a:defRPr>
            </a:pPr>
            <a:r>
              <a:rPr sz="1575" b="1">
                <a:solidFill>
                  <a:srgbClr val="0B3D91"/>
                </a:solidFill>
                <a:latin typeface="Arial"/>
                <a:ea typeface="Arial"/>
                <a:cs typeface="Arial"/>
              </a:rPr>
              <a:t>question</a:t>
            </a:r>
          </a:p>
        </p:txBody>
      </p:sp>
      <p:sp>
        <p:nvSpPr>
          <p:cNvPr id="6" name="Rectangle: Rounded Corners 5">
            <a:extLst>
              <a:ext uri="{FF2B5EF4-FFF2-40B4-BE49-F238E27FC236}">
                <a16:creationId xmlns:a16="http://schemas.microsoft.com/office/drawing/2014/main" id="{5A259950-349A-44CE-A03F-0F73BDD11287}"/>
              </a:ext>
            </a:extLst>
          </p:cNvPr>
          <p:cNvSpPr>
            <a:spLocks noGrp="1"/>
          </p:cNvSpPr>
          <p:nvPr/>
        </p:nvSpPr>
        <p:spPr>
          <a:xfrm>
            <a:off x="8048625" y="3009900"/>
            <a:ext cx="1809750" cy="1200150"/>
          </a:xfrm>
          <a:prstGeom prst="roundRect">
            <a:avLst>
              <a:gd name="adj" fmla="val 6349"/>
            </a:avLst>
          </a:prstGeom>
          <a:solidFill>
            <a:srgbClr val="FFFFFF"/>
          </a:solidFill>
          <a:ln w="9525">
            <a:solidFill>
              <a:srgbClr val="0B3D91"/>
            </a:solidFill>
            <a:prstDash val="solid"/>
          </a:ln>
        </p:spPr>
        <p:txBody>
          <a:bodyPr anchor="ctr">
            <a:normAutofit/>
          </a:bodyPr>
          <a:lstStyle/>
          <a:p>
            <a:pPr algn="ctr">
              <a:defRPr sz="1425" b="1">
                <a:solidFill>
                  <a:srgbClr val="14213D"/>
                </a:solidFill>
                <a:latin typeface="Arial"/>
                <a:ea typeface="Arial"/>
                <a:cs typeface="Arial"/>
              </a:defRPr>
            </a:pPr>
            <a:r>
              <a:rPr sz="1425" b="1">
                <a:solidFill>
                  <a:srgbClr val="14213D"/>
                </a:solidFill>
                <a:latin typeface="Arial"/>
                <a:ea typeface="Arial"/>
                <a:cs typeface="Arial"/>
              </a:rPr>
              <a:t>Wikipedia</a:t>
            </a:r>
          </a:p>
          <a:p>
            <a:pPr algn="ctr">
              <a:defRPr sz="1425" b="1">
                <a:solidFill>
                  <a:srgbClr val="14213D"/>
                </a:solidFill>
                <a:latin typeface="Arial"/>
                <a:ea typeface="Arial"/>
                <a:cs typeface="Arial"/>
              </a:defRPr>
            </a:pPr>
            <a:r>
              <a:rPr sz="1425" b="1">
                <a:solidFill>
                  <a:srgbClr val="14213D"/>
                </a:solidFill>
                <a:latin typeface="Arial"/>
                <a:ea typeface="Arial"/>
                <a:cs typeface="Arial"/>
              </a:rPr>
              <a:t>arXiv</a:t>
            </a:r>
          </a:p>
          <a:p>
            <a:pPr algn="ctr">
              <a:defRPr sz="1425" b="1">
                <a:solidFill>
                  <a:srgbClr val="14213D"/>
                </a:solidFill>
                <a:latin typeface="Arial"/>
                <a:ea typeface="Arial"/>
                <a:cs typeface="Arial"/>
              </a:defRPr>
            </a:pPr>
            <a:r>
              <a:rPr sz="1425" b="1">
                <a:solidFill>
                  <a:srgbClr val="14213D"/>
                </a:solidFill>
                <a:latin typeface="Arial"/>
                <a:ea typeface="Arial"/>
                <a:cs typeface="Arial"/>
              </a:rPr>
              <a:t>Web</a:t>
            </a:r>
          </a:p>
        </p:txBody>
      </p:sp>
      <p:sp>
        <p:nvSpPr>
          <p:cNvPr id="7" name="Rectangle: Rounded Corners 6">
            <a:extLst>
              <a:ext uri="{FF2B5EF4-FFF2-40B4-BE49-F238E27FC236}">
                <a16:creationId xmlns:a16="http://schemas.microsoft.com/office/drawing/2014/main" id="{CCA8E140-E00D-4C8E-AC48-BC7129660746}"/>
              </a:ext>
            </a:extLst>
          </p:cNvPr>
          <p:cNvSpPr>
            <a:spLocks noGrp="1"/>
          </p:cNvSpPr>
          <p:nvPr/>
        </p:nvSpPr>
        <p:spPr>
          <a:xfrm>
            <a:off x="8048625" y="4962525"/>
            <a:ext cx="1809750" cy="876300"/>
          </a:xfrm>
          <a:prstGeom prst="roundRect">
            <a:avLst>
              <a:gd name="adj" fmla="val 8696"/>
            </a:avLst>
          </a:prstGeom>
          <a:solidFill>
            <a:srgbClr val="E7F5EB"/>
          </a:solidFill>
          <a:ln w="9525">
            <a:solidFill>
              <a:srgbClr val="166534"/>
            </a:solidFill>
            <a:prstDash val="solid"/>
          </a:ln>
        </p:spPr>
        <p:txBody>
          <a:bodyPr anchor="ctr">
            <a:normAutofit/>
          </a:bodyPr>
          <a:lstStyle/>
          <a:p>
            <a:pPr algn="ctr">
              <a:defRPr sz="1575" b="1">
                <a:solidFill>
                  <a:srgbClr val="166534"/>
                </a:solidFill>
                <a:latin typeface="Arial"/>
                <a:ea typeface="Arial"/>
                <a:cs typeface="Arial"/>
              </a:defRPr>
            </a:pPr>
            <a:r>
              <a:rPr sz="1575" b="1">
                <a:solidFill>
                  <a:srgbClr val="166534"/>
                </a:solidFill>
                <a:latin typeface="Arial"/>
                <a:ea typeface="Arial"/>
                <a:cs typeface="Arial"/>
              </a:rPr>
              <a:t>Cited</a:t>
            </a:r>
          </a:p>
          <a:p>
            <a:pPr algn="ctr">
              <a:defRPr sz="1575" b="1">
                <a:solidFill>
                  <a:srgbClr val="166534"/>
                </a:solidFill>
                <a:latin typeface="Arial"/>
                <a:ea typeface="Arial"/>
                <a:cs typeface="Arial"/>
              </a:defRPr>
            </a:pPr>
            <a:r>
              <a:rPr sz="1575" b="1">
                <a:solidFill>
                  <a:srgbClr val="166534"/>
                </a:solidFill>
                <a:latin typeface="Arial"/>
                <a:ea typeface="Arial"/>
                <a:cs typeface="Arial"/>
              </a:rPr>
              <a:t>answer</a:t>
            </a:r>
          </a:p>
        </p:txBody>
      </p:sp>
      <p:cxnSp>
        <p:nvCxnSpPr>
          <p:cNvPr id="20" name="Straight Arrow Connector 19"/>
          <p:cNvCxnSpPr>
            <a:stCxn id="5" idx="2"/>
            <a:endCxn id="6" idx="0"/>
          </p:cNvCxnSpPr>
          <p:nvPr/>
        </p:nvCxnSpPr>
        <p:spPr>
          <a:xfrm>
            <a:off x="8953500" y="2257425"/>
            <a:ext cx="0" cy="752475"/>
          </a:xfrm>
          <a:prstGeom prst="straightConnector1">
            <a:avLst/>
          </a:prstGeom>
          <a:ln w="23813">
            <a:solidFill>
              <a:srgbClr val="0B3D91"/>
            </a:solidFill>
            <a:prstDash val="solid"/>
            <a:tailEnd type="arrow" w="med" len="med"/>
          </a:ln>
        </p:spPr>
      </p:cxnSp>
      <p:cxnSp>
        <p:nvCxnSpPr>
          <p:cNvPr id="21" name="Straight Arrow Connector 20"/>
          <p:cNvCxnSpPr>
            <a:stCxn id="6" idx="2"/>
            <a:endCxn id="7" idx="0"/>
          </p:cNvCxnSpPr>
          <p:nvPr/>
        </p:nvCxnSpPr>
        <p:spPr>
          <a:xfrm>
            <a:off x="8953500" y="4210050"/>
            <a:ext cx="0" cy="752475"/>
          </a:xfrm>
          <a:prstGeom prst="straightConnector1">
            <a:avLst/>
          </a:prstGeom>
          <a:ln w="23813">
            <a:solidFill>
              <a:srgbClr val="166534"/>
            </a:solidFill>
            <a:prstDash val="solid"/>
            <a:tailEnd type="arrow" w="med" len="med"/>
          </a:ln>
        </p:spPr>
      </p:cxnSp>
      <p:sp>
        <p:nvSpPr>
          <p:cNvPr id="10" name="Rectangle 9">
            <a:extLst>
              <a:ext uri="{FF2B5EF4-FFF2-40B4-BE49-F238E27FC236}">
                <a16:creationId xmlns:a16="http://schemas.microsoft.com/office/drawing/2014/main" id="{A7F2B424-DE67-4B8A-8949-0E794B364A5D}"/>
              </a:ext>
            </a:extLst>
          </p:cNvPr>
          <p:cNvSpPr>
            <a:spLocks noGrp="1"/>
          </p:cNvSpPr>
          <p:nvPr/>
        </p:nvSpPr>
        <p:spPr>
          <a:xfrm>
            <a:off x="762000" y="5048250"/>
            <a:ext cx="6191250" cy="361950"/>
          </a:xfrm>
          <a:prstGeom prst="rect">
            <a:avLst/>
          </a:prstGeom>
          <a:noFill/>
          <a:ln w="0">
            <a:noFill/>
          </a:ln>
        </p:spPr>
        <p:txBody>
          <a:bodyPr anchor="t">
            <a:normAutofit/>
          </a:bodyPr>
          <a:lstStyle/>
          <a:p>
            <a:pPr algn="l">
              <a:defRPr sz="1500" b="1" i="0">
                <a:solidFill>
                  <a:srgbClr val="14213D"/>
                </a:solidFill>
                <a:latin typeface="Arial"/>
                <a:ea typeface="Arial"/>
                <a:cs typeface="Arial"/>
              </a:defRPr>
            </a:pPr>
            <a:r>
              <a:rPr sz="1500" b="1" i="0">
                <a:solidFill>
                  <a:srgbClr val="14213D"/>
                </a:solidFill>
                <a:latin typeface="Arial"/>
                <a:ea typeface="Arial"/>
                <a:cs typeface="Arial"/>
              </a:rPr>
              <a:t>Samir Həsənov   ·   Elmir Əsgərov   ·   Ramil Məmmədəliyev</a:t>
            </a:r>
          </a:p>
        </p:txBody>
      </p:sp>
      <p:sp>
        <p:nvSpPr>
          <p:cNvPr id="11" name="Rectangle 10">
            <a:extLst>
              <a:ext uri="{FF2B5EF4-FFF2-40B4-BE49-F238E27FC236}">
                <a16:creationId xmlns:a16="http://schemas.microsoft.com/office/drawing/2014/main" id="{BB01D231-644C-41D2-B7CF-80EC79972F4C}"/>
              </a:ext>
            </a:extLst>
          </p:cNvPr>
          <p:cNvSpPr>
            <a:spLocks noGrp="1"/>
          </p:cNvSpPr>
          <p:nvPr/>
        </p:nvSpPr>
        <p:spPr>
          <a:xfrm>
            <a:off x="762000" y="5543550"/>
            <a:ext cx="6191250" cy="285750"/>
          </a:xfrm>
          <a:prstGeom prst="rect">
            <a:avLst/>
          </a:prstGeom>
          <a:noFill/>
          <a:ln w="0">
            <a:noFill/>
          </a:ln>
        </p:spPr>
        <p:txBody>
          <a:bodyPr anchor="t">
            <a:normAutofit/>
          </a:bodyPr>
          <a:lstStyle/>
          <a:p>
            <a:pPr algn="l">
              <a:defRPr sz="1275" b="0" i="0">
                <a:solidFill>
                  <a:srgbClr val="5B6475"/>
                </a:solidFill>
                <a:latin typeface="Arial"/>
                <a:ea typeface="Arial"/>
                <a:cs typeface="Arial"/>
              </a:defRPr>
            </a:pPr>
            <a:r>
              <a:rPr lang="en-US" sz="1275" dirty="0">
                <a:solidFill>
                  <a:srgbClr val="5B6475"/>
                </a:solidFill>
                <a:latin typeface="Arial"/>
                <a:ea typeface="Arial"/>
                <a:cs typeface="Arial"/>
              </a:rPr>
              <a:t>M301</a:t>
            </a:r>
            <a:r>
              <a:rPr sz="1275" b="0" i="0" dirty="0">
                <a:solidFill>
                  <a:srgbClr val="5B6475"/>
                </a:solidFill>
                <a:latin typeface="Arial"/>
                <a:ea typeface="Arial"/>
                <a:cs typeface="Arial"/>
              </a:rPr>
              <a:t> Software Engineering Final Project</a:t>
            </a:r>
          </a:p>
        </p:txBody>
      </p:sp>
      <p:sp>
        <p:nvSpPr>
          <p:cNvPr id="12" name="Rectangle 11">
            <a:extLst>
              <a:ext uri="{FF2B5EF4-FFF2-40B4-BE49-F238E27FC236}">
                <a16:creationId xmlns:a16="http://schemas.microsoft.com/office/drawing/2014/main" id="{EE0912AC-2663-43E0-9202-2270981BB8A9}"/>
              </a:ext>
            </a:extLst>
          </p:cNvPr>
          <p:cNvSpPr>
            <a:spLocks noGrp="1"/>
          </p:cNvSpPr>
          <p:nvPr/>
        </p:nvSpPr>
        <p:spPr>
          <a:xfrm>
            <a:off x="762000" y="6076950"/>
            <a:ext cx="7239000" cy="247650"/>
          </a:xfrm>
          <a:prstGeom prst="rect">
            <a:avLst/>
          </a:prstGeom>
          <a:noFill/>
          <a:ln w="0">
            <a:noFill/>
          </a:ln>
        </p:spPr>
        <p:txBody>
          <a:bodyPr anchor="t">
            <a:normAutofit/>
          </a:bodyPr>
          <a:lstStyle/>
          <a:p>
            <a:pPr algn="l">
              <a:defRPr sz="975" b="0" i="0">
                <a:solidFill>
                  <a:srgbClr val="0B3D91"/>
                </a:solidFill>
                <a:latin typeface="Arial"/>
                <a:ea typeface="Arial"/>
                <a:cs typeface="Arial"/>
              </a:defRPr>
            </a:pPr>
            <a:r>
              <a:rPr sz="975" b="0" i="0">
                <a:solidFill>
                  <a:srgbClr val="0B3D91"/>
                </a:solidFill>
                <a:latin typeface="Arial"/>
                <a:ea typeface="Arial"/>
                <a:cs typeface="Arial"/>
              </a:rPr>
              <a:t>github.com/Hasanov57/AI-Academy---SE---Final-Project---AI-Researcher</a:t>
            </a:r>
          </a:p>
        </p:txBody>
      </p:sp>
    </p:spTree>
    <p:extLst>
      <p:ext uri="{BB962C8B-B14F-4D97-AF65-F5344CB8AC3E}">
        <p14:creationId xmlns:p14="http://schemas.microsoft.com/office/powerpoint/2010/main" val="122554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0742588-E8BE-478B-A3EE-8622110990C5}"/>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What the system delivers</a:t>
            </a:r>
          </a:p>
        </p:txBody>
      </p:sp>
      <p:sp>
        <p:nvSpPr>
          <p:cNvPr id="2" name="Straight Connector 1">
            <a:extLst>
              <a:ext uri="{FF2B5EF4-FFF2-40B4-BE49-F238E27FC236}">
                <a16:creationId xmlns:a16="http://schemas.microsoft.com/office/drawing/2014/main" id="{785502A8-6C5E-4319-A417-B95F577B3EE6}"/>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EB831497-DE1D-4583-B490-4341C6714AFD}"/>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02</a:t>
            </a:r>
          </a:p>
        </p:txBody>
      </p:sp>
      <p:sp>
        <p:nvSpPr>
          <p:cNvPr id="4" name="Rectangle 3">
            <a:extLst>
              <a:ext uri="{FF2B5EF4-FFF2-40B4-BE49-F238E27FC236}">
                <a16:creationId xmlns:a16="http://schemas.microsoft.com/office/drawing/2014/main" id="{47C06229-6C04-4729-AB3A-87165A85BCFB}"/>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3A3D1699-7416-4596-81A6-2048D75DF87D}"/>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dirty="0">
                <a:solidFill>
                  <a:srgbClr val="5B6475"/>
                </a:solidFill>
                <a:latin typeface="Arial"/>
                <a:ea typeface="Arial"/>
                <a:cs typeface="Arial"/>
              </a:rPr>
              <a:t>M301</a:t>
            </a:r>
            <a:r>
              <a:rPr sz="900" b="0" i="0" dirty="0">
                <a:solidFill>
                  <a:srgbClr val="5B6475"/>
                </a:solidFill>
                <a:latin typeface="Arial"/>
                <a:ea typeface="Arial"/>
                <a:cs typeface="Arial"/>
              </a:rPr>
              <a:t>  •  S</a:t>
            </a:r>
            <a:r>
              <a:rPr lang="en-US" sz="900" b="0" i="0" dirty="0">
                <a:solidFill>
                  <a:srgbClr val="5B6475"/>
                </a:solidFill>
                <a:latin typeface="Arial"/>
                <a:ea typeface="Arial"/>
                <a:cs typeface="Arial"/>
              </a:rPr>
              <a:t>pring</a:t>
            </a:r>
            <a:r>
              <a:rPr sz="900" b="0" i="0" dirty="0">
                <a:solidFill>
                  <a:srgbClr val="5B6475"/>
                </a:solidFill>
                <a:latin typeface="Arial"/>
                <a:ea typeface="Arial"/>
                <a:cs typeface="Arial"/>
              </a:rPr>
              <a:t> 2026  •  2/10</a:t>
            </a:r>
          </a:p>
        </p:txBody>
      </p:sp>
      <p:sp>
        <p:nvSpPr>
          <p:cNvPr id="6" name="Rectangle 5">
            <a:extLst>
              <a:ext uri="{FF2B5EF4-FFF2-40B4-BE49-F238E27FC236}">
                <a16:creationId xmlns:a16="http://schemas.microsoft.com/office/drawing/2014/main" id="{A5EA4060-3C82-48FC-BC21-D0041C39D727}"/>
              </a:ext>
            </a:extLst>
          </p:cNvPr>
          <p:cNvSpPr>
            <a:spLocks noGrp="1"/>
          </p:cNvSpPr>
          <p:nvPr/>
        </p:nvSpPr>
        <p:spPr>
          <a:xfrm>
            <a:off x="666750" y="1200150"/>
            <a:ext cx="10668000" cy="523875"/>
          </a:xfrm>
          <a:prstGeom prst="rect">
            <a:avLst/>
          </a:prstGeom>
          <a:noFill/>
          <a:ln w="0">
            <a:noFill/>
          </a:ln>
        </p:spPr>
        <p:txBody>
          <a:bodyPr anchor="t">
            <a:normAutofit/>
          </a:bodyPr>
          <a:lstStyle/>
          <a:p>
            <a:pPr algn="ctr">
              <a:defRPr sz="2025" b="1" i="0">
                <a:solidFill>
                  <a:srgbClr val="14213D"/>
                </a:solidFill>
                <a:latin typeface="Arial"/>
                <a:ea typeface="Arial"/>
                <a:cs typeface="Arial"/>
              </a:defRPr>
            </a:pPr>
            <a:r>
              <a:rPr sz="2025" b="1" i="0">
                <a:solidFill>
                  <a:srgbClr val="14213D"/>
                </a:solidFill>
                <a:latin typeface="Arial"/>
                <a:ea typeface="Arial"/>
                <a:cs typeface="Arial"/>
              </a:rPr>
              <a:t>One question becomes one concise answer grounded in retrieved evidence</a:t>
            </a:r>
          </a:p>
        </p:txBody>
      </p:sp>
      <p:sp>
        <p:nvSpPr>
          <p:cNvPr id="7" name="Rectangle: Rounded Corners 6">
            <a:extLst>
              <a:ext uri="{FF2B5EF4-FFF2-40B4-BE49-F238E27FC236}">
                <a16:creationId xmlns:a16="http://schemas.microsoft.com/office/drawing/2014/main" id="{F3CD08C8-4D83-4C91-9E35-BE68B62AE5CF}"/>
              </a:ext>
            </a:extLst>
          </p:cNvPr>
          <p:cNvSpPr>
            <a:spLocks noGrp="1"/>
          </p:cNvSpPr>
          <p:nvPr/>
        </p:nvSpPr>
        <p:spPr>
          <a:xfrm>
            <a:off x="762000" y="2266950"/>
            <a:ext cx="2952750" cy="1200150"/>
          </a:xfrm>
          <a:prstGeom prst="roundRect">
            <a:avLst>
              <a:gd name="adj" fmla="val 6349"/>
            </a:avLst>
          </a:prstGeom>
          <a:solidFill>
            <a:srgbClr val="F2F4F8"/>
          </a:solidFill>
          <a:ln w="9525">
            <a:solidFill>
              <a:srgbClr val="D6DCE7"/>
            </a:solidFill>
            <a:prstDash val="solid"/>
          </a:ln>
        </p:spPr>
        <p:txBody>
          <a:bodyPr anchor="ctr">
            <a:normAutofit/>
          </a:bodyPr>
          <a:lstStyle/>
          <a:p>
            <a:pPr algn="ctr">
              <a:defRPr sz="1575" b="1">
                <a:solidFill>
                  <a:srgbClr val="14213D"/>
                </a:solidFill>
                <a:latin typeface="Arial"/>
                <a:ea typeface="Arial"/>
                <a:cs typeface="Arial"/>
              </a:defRPr>
            </a:pPr>
            <a:r>
              <a:rPr sz="1575" b="1">
                <a:solidFill>
                  <a:srgbClr val="14213D"/>
                </a:solidFill>
                <a:latin typeface="Arial"/>
                <a:ea typeface="Arial"/>
                <a:cs typeface="Arial"/>
              </a:rPr>
              <a:t>“What are the latest developments</a:t>
            </a:r>
          </a:p>
          <a:p>
            <a:pPr algn="ctr">
              <a:defRPr sz="1575" b="1">
                <a:solidFill>
                  <a:srgbClr val="14213D"/>
                </a:solidFill>
                <a:latin typeface="Arial"/>
                <a:ea typeface="Arial"/>
                <a:cs typeface="Arial"/>
              </a:defRPr>
            </a:pPr>
            <a:r>
              <a:rPr sz="1575" b="1">
                <a:solidFill>
                  <a:srgbClr val="14213D"/>
                </a:solidFill>
                <a:latin typeface="Arial"/>
                <a:ea typeface="Arial"/>
                <a:cs typeface="Arial"/>
              </a:rPr>
              <a:t>in nuclear fusion energy?”</a:t>
            </a:r>
          </a:p>
        </p:txBody>
      </p:sp>
      <p:sp>
        <p:nvSpPr>
          <p:cNvPr id="8" name="Rectangle: Rounded Corners 7">
            <a:extLst>
              <a:ext uri="{FF2B5EF4-FFF2-40B4-BE49-F238E27FC236}">
                <a16:creationId xmlns:a16="http://schemas.microsoft.com/office/drawing/2014/main" id="{742A519C-D386-4883-BBE1-FD7D74E09470}"/>
              </a:ext>
            </a:extLst>
          </p:cNvPr>
          <p:cNvSpPr>
            <a:spLocks noGrp="1"/>
          </p:cNvSpPr>
          <p:nvPr/>
        </p:nvSpPr>
        <p:spPr>
          <a:xfrm>
            <a:off x="4619625" y="1857375"/>
            <a:ext cx="1619250" cy="552450"/>
          </a:xfrm>
          <a:prstGeom prst="roundRect">
            <a:avLst>
              <a:gd name="adj" fmla="val 13793"/>
            </a:avLst>
          </a:prstGeom>
          <a:solidFill>
            <a:srgbClr val="EAF1FB"/>
          </a:solidFill>
          <a:ln w="9525">
            <a:solidFill>
              <a:srgbClr val="0B3D91"/>
            </a:solidFill>
            <a:prstDash val="solid"/>
          </a:ln>
        </p:spPr>
        <p:txBody>
          <a:bodyPr anchor="ctr">
            <a:normAutofit/>
          </a:bodyPr>
          <a:lstStyle/>
          <a:p>
            <a:pPr algn="ctr">
              <a:defRPr sz="1350" b="1">
                <a:solidFill>
                  <a:srgbClr val="0B3D91"/>
                </a:solidFill>
                <a:latin typeface="Arial"/>
                <a:ea typeface="Arial"/>
                <a:cs typeface="Arial"/>
              </a:defRPr>
            </a:pPr>
            <a:r>
              <a:rPr sz="1350" b="1">
                <a:solidFill>
                  <a:srgbClr val="0B3D91"/>
                </a:solidFill>
                <a:latin typeface="Arial"/>
                <a:ea typeface="Arial"/>
                <a:cs typeface="Arial"/>
              </a:rPr>
              <a:t>Wikipedia</a:t>
            </a:r>
          </a:p>
        </p:txBody>
      </p:sp>
      <p:sp>
        <p:nvSpPr>
          <p:cNvPr id="9" name="Rectangle: Rounded Corners 8">
            <a:extLst>
              <a:ext uri="{FF2B5EF4-FFF2-40B4-BE49-F238E27FC236}">
                <a16:creationId xmlns:a16="http://schemas.microsoft.com/office/drawing/2014/main" id="{571DE2A7-7450-4A00-9979-E10DAEEAFA51}"/>
              </a:ext>
            </a:extLst>
          </p:cNvPr>
          <p:cNvSpPr>
            <a:spLocks noGrp="1"/>
          </p:cNvSpPr>
          <p:nvPr/>
        </p:nvSpPr>
        <p:spPr>
          <a:xfrm>
            <a:off x="4619625" y="2600325"/>
            <a:ext cx="1619250" cy="552450"/>
          </a:xfrm>
          <a:prstGeom prst="roundRect">
            <a:avLst>
              <a:gd name="adj" fmla="val 13793"/>
            </a:avLst>
          </a:prstGeom>
          <a:solidFill>
            <a:srgbClr val="EAF1FB"/>
          </a:solidFill>
          <a:ln w="9525">
            <a:solidFill>
              <a:srgbClr val="0B3D91"/>
            </a:solidFill>
            <a:prstDash val="solid"/>
          </a:ln>
        </p:spPr>
        <p:txBody>
          <a:bodyPr anchor="ctr">
            <a:normAutofit/>
          </a:bodyPr>
          <a:lstStyle/>
          <a:p>
            <a:pPr algn="ctr">
              <a:defRPr sz="1350" b="1">
                <a:solidFill>
                  <a:srgbClr val="0B3D91"/>
                </a:solidFill>
                <a:latin typeface="Arial"/>
                <a:ea typeface="Arial"/>
                <a:cs typeface="Arial"/>
              </a:defRPr>
            </a:pPr>
            <a:r>
              <a:rPr sz="1350" b="1">
                <a:solidFill>
                  <a:srgbClr val="0B3D91"/>
                </a:solidFill>
                <a:latin typeface="Arial"/>
                <a:ea typeface="Arial"/>
                <a:cs typeface="Arial"/>
              </a:rPr>
              <a:t>arXiv</a:t>
            </a:r>
          </a:p>
        </p:txBody>
      </p:sp>
      <p:sp>
        <p:nvSpPr>
          <p:cNvPr id="10" name="Rectangle: Rounded Corners 9">
            <a:extLst>
              <a:ext uri="{FF2B5EF4-FFF2-40B4-BE49-F238E27FC236}">
                <a16:creationId xmlns:a16="http://schemas.microsoft.com/office/drawing/2014/main" id="{E9A05398-E280-4289-B139-6DC53070226D}"/>
              </a:ext>
            </a:extLst>
          </p:cNvPr>
          <p:cNvSpPr>
            <a:spLocks noGrp="1"/>
          </p:cNvSpPr>
          <p:nvPr/>
        </p:nvSpPr>
        <p:spPr>
          <a:xfrm>
            <a:off x="4619625" y="3343275"/>
            <a:ext cx="1619250" cy="552450"/>
          </a:xfrm>
          <a:prstGeom prst="roundRect">
            <a:avLst>
              <a:gd name="adj" fmla="val 13793"/>
            </a:avLst>
          </a:prstGeom>
          <a:solidFill>
            <a:srgbClr val="EAF1FB"/>
          </a:solidFill>
          <a:ln w="9525">
            <a:solidFill>
              <a:srgbClr val="0B3D91"/>
            </a:solidFill>
            <a:prstDash val="solid"/>
          </a:ln>
        </p:spPr>
        <p:txBody>
          <a:bodyPr anchor="ctr">
            <a:normAutofit/>
          </a:bodyPr>
          <a:lstStyle/>
          <a:p>
            <a:pPr algn="ctr">
              <a:defRPr sz="1350" b="1">
                <a:solidFill>
                  <a:srgbClr val="0B3D91"/>
                </a:solidFill>
                <a:latin typeface="Arial"/>
                <a:ea typeface="Arial"/>
                <a:cs typeface="Arial"/>
              </a:defRPr>
            </a:pPr>
            <a:r>
              <a:rPr sz="1350" b="1">
                <a:solidFill>
                  <a:srgbClr val="0B3D91"/>
                </a:solidFill>
                <a:latin typeface="Arial"/>
                <a:ea typeface="Arial"/>
                <a:cs typeface="Arial"/>
              </a:rPr>
              <a:t>Web search</a:t>
            </a:r>
          </a:p>
        </p:txBody>
      </p:sp>
      <p:sp>
        <p:nvSpPr>
          <p:cNvPr id="11" name="Rectangle: Rounded Corners 10">
            <a:extLst>
              <a:ext uri="{FF2B5EF4-FFF2-40B4-BE49-F238E27FC236}">
                <a16:creationId xmlns:a16="http://schemas.microsoft.com/office/drawing/2014/main" id="{DD230CB7-201B-4990-B627-455711893E89}"/>
              </a:ext>
            </a:extLst>
          </p:cNvPr>
          <p:cNvSpPr>
            <a:spLocks noGrp="1"/>
          </p:cNvSpPr>
          <p:nvPr/>
        </p:nvSpPr>
        <p:spPr>
          <a:xfrm>
            <a:off x="7334250" y="2266950"/>
            <a:ext cx="3714750" cy="1428750"/>
          </a:xfrm>
          <a:prstGeom prst="roundRect">
            <a:avLst>
              <a:gd name="adj" fmla="val 5333"/>
            </a:avLst>
          </a:prstGeom>
          <a:solidFill>
            <a:srgbClr val="E7F5EB"/>
          </a:solidFill>
          <a:ln w="9525">
            <a:solidFill>
              <a:srgbClr val="166534"/>
            </a:solidFill>
            <a:prstDash val="solid"/>
          </a:ln>
        </p:spPr>
        <p:txBody>
          <a:bodyPr anchor="ctr">
            <a:normAutofit/>
          </a:bodyPr>
          <a:lstStyle/>
          <a:p>
            <a:pPr algn="ctr">
              <a:defRPr sz="1575" b="1">
                <a:solidFill>
                  <a:srgbClr val="14213D"/>
                </a:solidFill>
                <a:latin typeface="Arial"/>
                <a:ea typeface="Arial"/>
                <a:cs typeface="Arial"/>
              </a:defRPr>
            </a:pPr>
            <a:r>
              <a:rPr sz="1575" b="1">
                <a:solidFill>
                  <a:srgbClr val="14213D"/>
                </a:solidFill>
                <a:latin typeface="Arial"/>
                <a:ea typeface="Arial"/>
                <a:cs typeface="Arial"/>
              </a:rPr>
              <a:t>Answer with [1], [2] citations</a:t>
            </a:r>
          </a:p>
          <a:p>
            <a:pPr algn="ctr">
              <a:defRPr sz="1575" b="1">
                <a:solidFill>
                  <a:srgbClr val="14213D"/>
                </a:solidFill>
                <a:latin typeface="Arial"/>
                <a:ea typeface="Arial"/>
                <a:cs typeface="Arial"/>
              </a:defRPr>
            </a:pPr>
            <a:r>
              <a:rPr sz="1575" b="1">
                <a:solidFill>
                  <a:srgbClr val="14213D"/>
                </a:solidFill>
                <a:latin typeface="Arial"/>
                <a:ea typeface="Arial"/>
                <a:cs typeface="Arial"/>
              </a:rPr>
              <a:t>Reference URLs</a:t>
            </a:r>
          </a:p>
          <a:p>
            <a:pPr algn="ctr">
              <a:defRPr sz="1575" b="1">
                <a:solidFill>
                  <a:srgbClr val="14213D"/>
                </a:solidFill>
                <a:latin typeface="Arial"/>
                <a:ea typeface="Arial"/>
                <a:cs typeface="Arial"/>
              </a:defRPr>
            </a:pPr>
            <a:r>
              <a:rPr sz="1575" b="1">
                <a:solidFill>
                  <a:srgbClr val="14213D"/>
                </a:solidFill>
                <a:latin typeface="Arial"/>
                <a:ea typeface="Arial"/>
                <a:cs typeface="Arial"/>
              </a:rPr>
              <a:t>Timings and warnings</a:t>
            </a:r>
          </a:p>
        </p:txBody>
      </p:sp>
      <p:cxnSp>
        <p:nvCxnSpPr>
          <p:cNvPr id="33" name="Connector: Elbow 32"/>
          <p:cNvCxnSpPr>
            <a:stCxn id="7" idx="3"/>
            <a:endCxn id="8" idx="1"/>
          </p:cNvCxnSpPr>
          <p:nvPr/>
        </p:nvCxnSpPr>
        <p:spPr>
          <a:xfrm flipV="1">
            <a:off x="3714750" y="2133600"/>
            <a:ext cx="904875" cy="733425"/>
          </a:xfrm>
          <a:prstGeom prst="bentConnector3">
            <a:avLst>
              <a:gd name="adj1" fmla="val 50000"/>
            </a:avLst>
          </a:prstGeom>
          <a:ln w="23813">
            <a:solidFill>
              <a:srgbClr val="0B3D91"/>
            </a:solidFill>
            <a:prstDash val="solid"/>
            <a:tailEnd type="arrow" w="med" len="med"/>
          </a:ln>
        </p:spPr>
      </p:cxnSp>
      <p:cxnSp>
        <p:nvCxnSpPr>
          <p:cNvPr id="34" name="Connector: Elbow 33"/>
          <p:cNvCxnSpPr>
            <a:stCxn id="7" idx="3"/>
            <a:endCxn id="9" idx="1"/>
          </p:cNvCxnSpPr>
          <p:nvPr/>
        </p:nvCxnSpPr>
        <p:spPr>
          <a:xfrm>
            <a:off x="3714750" y="2867025"/>
            <a:ext cx="904875" cy="9525"/>
          </a:xfrm>
          <a:prstGeom prst="bentConnector3">
            <a:avLst>
              <a:gd name="adj1" fmla="val 50000"/>
            </a:avLst>
          </a:prstGeom>
          <a:ln w="23813">
            <a:solidFill>
              <a:srgbClr val="0B3D91"/>
            </a:solidFill>
            <a:prstDash val="solid"/>
            <a:tailEnd type="arrow" w="med" len="med"/>
          </a:ln>
        </p:spPr>
      </p:cxnSp>
      <p:cxnSp>
        <p:nvCxnSpPr>
          <p:cNvPr id="35" name="Connector: Elbow 34"/>
          <p:cNvCxnSpPr>
            <a:stCxn id="7" idx="3"/>
            <a:endCxn id="10" idx="1"/>
          </p:cNvCxnSpPr>
          <p:nvPr/>
        </p:nvCxnSpPr>
        <p:spPr>
          <a:xfrm>
            <a:off x="3714750" y="2867025"/>
            <a:ext cx="904875" cy="752475"/>
          </a:xfrm>
          <a:prstGeom prst="bentConnector3">
            <a:avLst>
              <a:gd name="adj1" fmla="val 50000"/>
            </a:avLst>
          </a:prstGeom>
          <a:ln w="23813">
            <a:solidFill>
              <a:srgbClr val="0B3D91"/>
            </a:solidFill>
            <a:prstDash val="solid"/>
            <a:tailEnd type="arrow" w="med" len="med"/>
          </a:ln>
        </p:spPr>
      </p:cxnSp>
      <p:cxnSp>
        <p:nvCxnSpPr>
          <p:cNvPr id="36" name="Connector: Elbow 35"/>
          <p:cNvCxnSpPr>
            <a:stCxn id="8" idx="3"/>
            <a:endCxn id="11" idx="1"/>
          </p:cNvCxnSpPr>
          <p:nvPr/>
        </p:nvCxnSpPr>
        <p:spPr>
          <a:xfrm>
            <a:off x="6238875" y="2133600"/>
            <a:ext cx="1095375" cy="847725"/>
          </a:xfrm>
          <a:prstGeom prst="bentConnector3">
            <a:avLst>
              <a:gd name="adj1" fmla="val 50000"/>
            </a:avLst>
          </a:prstGeom>
          <a:ln w="23813">
            <a:solidFill>
              <a:srgbClr val="0B3D91"/>
            </a:solidFill>
            <a:prstDash val="solid"/>
            <a:tailEnd type="arrow" w="med" len="med"/>
          </a:ln>
        </p:spPr>
      </p:cxnSp>
      <p:cxnSp>
        <p:nvCxnSpPr>
          <p:cNvPr id="37" name="Connector: Elbow 36"/>
          <p:cNvCxnSpPr>
            <a:stCxn id="9" idx="3"/>
            <a:endCxn id="11" idx="1"/>
          </p:cNvCxnSpPr>
          <p:nvPr/>
        </p:nvCxnSpPr>
        <p:spPr>
          <a:xfrm>
            <a:off x="6238875" y="2876550"/>
            <a:ext cx="1095375" cy="104775"/>
          </a:xfrm>
          <a:prstGeom prst="bentConnector3">
            <a:avLst>
              <a:gd name="adj1" fmla="val 50000"/>
            </a:avLst>
          </a:prstGeom>
          <a:ln w="23813">
            <a:solidFill>
              <a:srgbClr val="0B3D91"/>
            </a:solidFill>
            <a:prstDash val="solid"/>
            <a:tailEnd type="arrow" w="med" len="med"/>
          </a:ln>
        </p:spPr>
      </p:cxnSp>
      <p:cxnSp>
        <p:nvCxnSpPr>
          <p:cNvPr id="38" name="Connector: Elbow 37"/>
          <p:cNvCxnSpPr>
            <a:stCxn id="10" idx="3"/>
            <a:endCxn id="11" idx="1"/>
          </p:cNvCxnSpPr>
          <p:nvPr/>
        </p:nvCxnSpPr>
        <p:spPr>
          <a:xfrm flipV="1">
            <a:off x="6238875" y="2981325"/>
            <a:ext cx="1095375" cy="638175"/>
          </a:xfrm>
          <a:prstGeom prst="bentConnector3">
            <a:avLst>
              <a:gd name="adj1" fmla="val 50000"/>
            </a:avLst>
          </a:prstGeom>
          <a:ln w="23813">
            <a:solidFill>
              <a:srgbClr val="0B3D91"/>
            </a:solidFill>
            <a:prstDash val="solid"/>
            <a:tailEnd type="arrow" w="med" len="med"/>
          </a:ln>
        </p:spPr>
      </p:cxnSp>
      <p:sp>
        <p:nvSpPr>
          <p:cNvPr id="18" name="Rectangle 17">
            <a:extLst>
              <a:ext uri="{FF2B5EF4-FFF2-40B4-BE49-F238E27FC236}">
                <a16:creationId xmlns:a16="http://schemas.microsoft.com/office/drawing/2014/main" id="{CB515D77-336B-4ADA-94C4-CE09B6C95F12}"/>
              </a:ext>
            </a:extLst>
          </p:cNvPr>
          <p:cNvSpPr>
            <a:spLocks noGrp="1"/>
          </p:cNvSpPr>
          <p:nvPr/>
        </p:nvSpPr>
        <p:spPr>
          <a:xfrm>
            <a:off x="876300" y="4514850"/>
            <a:ext cx="2095500" cy="285750"/>
          </a:xfrm>
          <a:prstGeom prst="rect">
            <a:avLst/>
          </a:prstGeom>
          <a:noFill/>
          <a:ln w="0">
            <a:noFill/>
          </a:ln>
        </p:spPr>
        <p:txBody>
          <a:bodyPr anchor="t">
            <a:normAutofit fontScale="94444"/>
          </a:bodyPr>
          <a:lstStyle/>
          <a:p>
            <a:pPr algn="l">
              <a:defRPr sz="1350" b="1" i="0">
                <a:solidFill>
                  <a:srgbClr val="5B6475"/>
                </a:solidFill>
                <a:latin typeface="Arial"/>
                <a:ea typeface="Arial"/>
                <a:cs typeface="Arial"/>
              </a:defRPr>
            </a:pPr>
            <a:r>
              <a:rPr sz="1350" b="1" i="0">
                <a:solidFill>
                  <a:srgbClr val="5B6475"/>
                </a:solidFill>
                <a:latin typeface="Arial"/>
                <a:ea typeface="Arial"/>
                <a:cs typeface="Arial"/>
              </a:rPr>
              <a:t>Two entry points</a:t>
            </a:r>
          </a:p>
        </p:txBody>
      </p:sp>
      <p:sp>
        <p:nvSpPr>
          <p:cNvPr id="19" name="Rectangle 18">
            <a:extLst>
              <a:ext uri="{FF2B5EF4-FFF2-40B4-BE49-F238E27FC236}">
                <a16:creationId xmlns:a16="http://schemas.microsoft.com/office/drawing/2014/main" id="{EBA363C1-B196-4375-960C-2F05787CD19C}"/>
              </a:ext>
            </a:extLst>
          </p:cNvPr>
          <p:cNvSpPr>
            <a:spLocks noGrp="1"/>
          </p:cNvSpPr>
          <p:nvPr/>
        </p:nvSpPr>
        <p:spPr>
          <a:xfrm>
            <a:off x="876300" y="4895850"/>
            <a:ext cx="3524250" cy="304800"/>
          </a:xfrm>
          <a:prstGeom prst="rect">
            <a:avLst/>
          </a:prstGeom>
          <a:noFill/>
          <a:ln w="0">
            <a:noFill/>
          </a:ln>
        </p:spPr>
        <p:txBody>
          <a:bodyPr anchor="t">
            <a:normAutofit fontScale="88889"/>
          </a:bodyPr>
          <a:lstStyle/>
          <a:p>
            <a:pPr algn="l">
              <a:defRPr sz="1575" b="1" i="0">
                <a:solidFill>
                  <a:srgbClr val="14213D"/>
                </a:solidFill>
                <a:latin typeface="Arial"/>
                <a:ea typeface="Arial"/>
                <a:cs typeface="Arial"/>
              </a:defRPr>
            </a:pPr>
            <a:r>
              <a:rPr sz="1575" b="1" i="0">
                <a:solidFill>
                  <a:srgbClr val="14213D"/>
                </a:solidFill>
                <a:latin typeface="Arial"/>
                <a:ea typeface="Arial"/>
                <a:cs typeface="Arial"/>
              </a:rPr>
              <a:t>CLI for grading and automation</a:t>
            </a:r>
          </a:p>
        </p:txBody>
      </p:sp>
      <p:sp>
        <p:nvSpPr>
          <p:cNvPr id="20" name="Rectangle 19">
            <a:extLst>
              <a:ext uri="{FF2B5EF4-FFF2-40B4-BE49-F238E27FC236}">
                <a16:creationId xmlns:a16="http://schemas.microsoft.com/office/drawing/2014/main" id="{6EAC1AB7-180A-40D7-B90F-00866F176500}"/>
              </a:ext>
            </a:extLst>
          </p:cNvPr>
          <p:cNvSpPr>
            <a:spLocks noGrp="1"/>
          </p:cNvSpPr>
          <p:nvPr/>
        </p:nvSpPr>
        <p:spPr>
          <a:xfrm>
            <a:off x="876300" y="5314950"/>
            <a:ext cx="4000500" cy="304800"/>
          </a:xfrm>
          <a:prstGeom prst="rect">
            <a:avLst/>
          </a:prstGeom>
          <a:noFill/>
          <a:ln w="0">
            <a:noFill/>
          </a:ln>
        </p:spPr>
        <p:txBody>
          <a:bodyPr anchor="t">
            <a:normAutofit fontScale="88889"/>
          </a:bodyPr>
          <a:lstStyle/>
          <a:p>
            <a:pPr algn="l">
              <a:defRPr sz="1575" b="1" i="0">
                <a:solidFill>
                  <a:srgbClr val="14213D"/>
                </a:solidFill>
                <a:latin typeface="Arial"/>
                <a:ea typeface="Arial"/>
                <a:cs typeface="Arial"/>
              </a:defRPr>
            </a:pPr>
            <a:r>
              <a:rPr sz="1575" b="1" i="0">
                <a:solidFill>
                  <a:srgbClr val="14213D"/>
                </a:solidFill>
                <a:latin typeface="Arial"/>
                <a:ea typeface="Arial"/>
                <a:cs typeface="Arial"/>
              </a:rPr>
              <a:t>Streamlit UI for project-day interaction</a:t>
            </a:r>
          </a:p>
        </p:txBody>
      </p:sp>
      <p:sp>
        <p:nvSpPr>
          <p:cNvPr id="21" name="Rectangle 20">
            <a:extLst>
              <a:ext uri="{FF2B5EF4-FFF2-40B4-BE49-F238E27FC236}">
                <a16:creationId xmlns:a16="http://schemas.microsoft.com/office/drawing/2014/main" id="{FA8BC14C-DE18-417A-8B98-36A8F2560503}"/>
              </a:ext>
            </a:extLst>
          </p:cNvPr>
          <p:cNvSpPr>
            <a:spLocks noGrp="1"/>
          </p:cNvSpPr>
          <p:nvPr/>
        </p:nvSpPr>
        <p:spPr>
          <a:xfrm>
            <a:off x="5905500" y="4762500"/>
            <a:ext cx="4953000" cy="723900"/>
          </a:xfrm>
          <a:prstGeom prst="rect">
            <a:avLst/>
          </a:prstGeom>
          <a:noFill/>
          <a:ln w="0">
            <a:noFill/>
          </a:ln>
        </p:spPr>
        <p:txBody>
          <a:bodyPr anchor="t">
            <a:normAutofit/>
          </a:bodyPr>
          <a:lstStyle/>
          <a:p>
            <a:pPr algn="l">
              <a:defRPr sz="1575" b="0" i="0">
                <a:solidFill>
                  <a:srgbClr val="5B6475"/>
                </a:solidFill>
                <a:latin typeface="Arial"/>
                <a:ea typeface="Arial"/>
                <a:cs typeface="Arial"/>
              </a:defRPr>
            </a:pPr>
            <a:r>
              <a:rPr sz="1575" b="0" i="0">
                <a:solidFill>
                  <a:srgbClr val="5B6475"/>
                </a:solidFill>
                <a:latin typeface="Arial"/>
                <a:ea typeface="Arial"/>
                <a:cs typeface="Arial"/>
              </a:rPr>
              <a:t>Users can select sources and bypass cached results when freshness matters.</a:t>
            </a:r>
          </a:p>
        </p:txBody>
      </p:sp>
    </p:spTree>
    <p:extLst>
      <p:ext uri="{BB962C8B-B14F-4D97-AF65-F5344CB8AC3E}">
        <p14:creationId xmlns:p14="http://schemas.microsoft.com/office/powerpoint/2010/main" val="119965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DB8B4B5-ADCE-4614-A203-05B3BE90EB1D}"/>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Request flow</a:t>
            </a:r>
          </a:p>
        </p:txBody>
      </p:sp>
      <p:sp>
        <p:nvSpPr>
          <p:cNvPr id="2" name="Straight Connector 1">
            <a:extLst>
              <a:ext uri="{FF2B5EF4-FFF2-40B4-BE49-F238E27FC236}">
                <a16:creationId xmlns:a16="http://schemas.microsoft.com/office/drawing/2014/main" id="{3560CBC1-35AB-4211-B812-764FD730C8A3}"/>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DBD11DAE-B730-41B2-97A9-B0155875B3FC}"/>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03</a:t>
            </a:r>
          </a:p>
        </p:txBody>
      </p:sp>
      <p:sp>
        <p:nvSpPr>
          <p:cNvPr id="4" name="Rectangle 3">
            <a:extLst>
              <a:ext uri="{FF2B5EF4-FFF2-40B4-BE49-F238E27FC236}">
                <a16:creationId xmlns:a16="http://schemas.microsoft.com/office/drawing/2014/main" id="{6E3103C0-F170-4BE0-BC13-397043FE12D8}"/>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DF9CAB9D-DFAE-4B62-8326-7532D274943A}"/>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dirty="0">
                <a:solidFill>
                  <a:srgbClr val="5B6475"/>
                </a:solidFill>
                <a:latin typeface="Arial"/>
                <a:ea typeface="Arial"/>
                <a:cs typeface="Arial"/>
              </a:rPr>
              <a:t>M301</a:t>
            </a:r>
            <a:r>
              <a:rPr sz="900" b="0" i="0" dirty="0">
                <a:solidFill>
                  <a:srgbClr val="5B6475"/>
                </a:solidFill>
                <a:latin typeface="Arial"/>
                <a:ea typeface="Arial"/>
                <a:cs typeface="Arial"/>
              </a:rPr>
              <a:t>  •  Spring 2026  •  3/10</a:t>
            </a:r>
          </a:p>
        </p:txBody>
      </p:sp>
      <p:sp>
        <p:nvSpPr>
          <p:cNvPr id="6" name="Oval 5">
            <a:extLst>
              <a:ext uri="{FF2B5EF4-FFF2-40B4-BE49-F238E27FC236}">
                <a16:creationId xmlns:a16="http://schemas.microsoft.com/office/drawing/2014/main" id="{5B65027A-7EA5-4AE0-A8D7-3023F62D6A61}"/>
              </a:ext>
            </a:extLst>
          </p:cNvPr>
          <p:cNvSpPr>
            <a:spLocks noGrp="1"/>
          </p:cNvSpPr>
          <p:nvPr/>
        </p:nvSpPr>
        <p:spPr>
          <a:xfrm>
            <a:off x="638175" y="1809750"/>
            <a:ext cx="666750" cy="666750"/>
          </a:xfrm>
          <a:prstGeom prst="ellipse">
            <a:avLst/>
          </a:prstGeom>
          <a:solidFill>
            <a:srgbClr val="0B3D91"/>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1E93CA5A-0AE2-4173-905A-3236BEEA6A6E}"/>
              </a:ext>
            </a:extLst>
          </p:cNvPr>
          <p:cNvSpPr>
            <a:spLocks noGrp="1"/>
          </p:cNvSpPr>
          <p:nvPr/>
        </p:nvSpPr>
        <p:spPr>
          <a:xfrm>
            <a:off x="419100" y="2781300"/>
            <a:ext cx="1104900" cy="3238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Validate</a:t>
            </a:r>
          </a:p>
        </p:txBody>
      </p:sp>
      <p:sp>
        <p:nvSpPr>
          <p:cNvPr id="8" name="Rectangle 7">
            <a:extLst>
              <a:ext uri="{FF2B5EF4-FFF2-40B4-BE49-F238E27FC236}">
                <a16:creationId xmlns:a16="http://schemas.microsoft.com/office/drawing/2014/main" id="{C97443DE-C23B-454F-A155-AD5EF69DF139}"/>
              </a:ext>
            </a:extLst>
          </p:cNvPr>
          <p:cNvSpPr>
            <a:spLocks noGrp="1"/>
          </p:cNvSpPr>
          <p:nvPr/>
        </p:nvSpPr>
        <p:spPr>
          <a:xfrm>
            <a:off x="180975"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Question, source subset, cache flag</a:t>
            </a:r>
          </a:p>
        </p:txBody>
      </p:sp>
      <p:sp>
        <p:nvSpPr>
          <p:cNvPr id="9" name="Oval 8">
            <a:extLst>
              <a:ext uri="{FF2B5EF4-FFF2-40B4-BE49-F238E27FC236}">
                <a16:creationId xmlns:a16="http://schemas.microsoft.com/office/drawing/2014/main" id="{3FF8B012-89FF-4D78-B489-E92B17C9114B}"/>
              </a:ext>
            </a:extLst>
          </p:cNvPr>
          <p:cNvSpPr>
            <a:spLocks noGrp="1"/>
          </p:cNvSpPr>
          <p:nvPr/>
        </p:nvSpPr>
        <p:spPr>
          <a:xfrm>
            <a:off x="2533650" y="1809750"/>
            <a:ext cx="666750" cy="666750"/>
          </a:xfrm>
          <a:prstGeom prst="ellipse">
            <a:avLst/>
          </a:prstGeom>
          <a:solidFill>
            <a:srgbClr val="0B3D91"/>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2</a:t>
            </a:r>
          </a:p>
        </p:txBody>
      </p:sp>
      <p:cxnSp>
        <p:nvCxnSpPr>
          <p:cNvPr id="41" name="Straight Arrow Connector 40"/>
          <p:cNvCxnSpPr>
            <a:stCxn id="6" idx="6"/>
            <a:endCxn id="9" idx="2"/>
          </p:cNvCxnSpPr>
          <p:nvPr/>
        </p:nvCxnSpPr>
        <p:spPr>
          <a:xfrm>
            <a:off x="1304925" y="2143125"/>
            <a:ext cx="1228725" cy="0"/>
          </a:xfrm>
          <a:prstGeom prst="straightConnector1">
            <a:avLst/>
          </a:prstGeom>
          <a:ln w="23813">
            <a:solidFill>
              <a:srgbClr val="0B3D91"/>
            </a:solidFill>
            <a:prstDash val="solid"/>
            <a:tailEnd type="arrow" w="med" len="med"/>
          </a:ln>
        </p:spPr>
      </p:cxnSp>
      <p:sp>
        <p:nvSpPr>
          <p:cNvPr id="11" name="Rectangle 10">
            <a:extLst>
              <a:ext uri="{FF2B5EF4-FFF2-40B4-BE49-F238E27FC236}">
                <a16:creationId xmlns:a16="http://schemas.microsoft.com/office/drawing/2014/main" id="{3FED3D5C-3548-46E9-AC8C-29FC8F8702A7}"/>
              </a:ext>
            </a:extLst>
          </p:cNvPr>
          <p:cNvSpPr>
            <a:spLocks noGrp="1"/>
          </p:cNvSpPr>
          <p:nvPr/>
        </p:nvSpPr>
        <p:spPr>
          <a:xfrm>
            <a:off x="2314575" y="2781300"/>
            <a:ext cx="1104900" cy="3238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Fetch</a:t>
            </a:r>
          </a:p>
        </p:txBody>
      </p:sp>
      <p:sp>
        <p:nvSpPr>
          <p:cNvPr id="12" name="Rectangle 11">
            <a:extLst>
              <a:ext uri="{FF2B5EF4-FFF2-40B4-BE49-F238E27FC236}">
                <a16:creationId xmlns:a16="http://schemas.microsoft.com/office/drawing/2014/main" id="{0F7AE11B-63D2-470B-BED4-63F37F487B56}"/>
              </a:ext>
            </a:extLst>
          </p:cNvPr>
          <p:cNvSpPr>
            <a:spLocks noGrp="1"/>
          </p:cNvSpPr>
          <p:nvPr/>
        </p:nvSpPr>
        <p:spPr>
          <a:xfrm>
            <a:off x="2076450"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Three bounded asynchronous tasks</a:t>
            </a:r>
          </a:p>
        </p:txBody>
      </p:sp>
      <p:sp>
        <p:nvSpPr>
          <p:cNvPr id="13" name="Oval 12">
            <a:extLst>
              <a:ext uri="{FF2B5EF4-FFF2-40B4-BE49-F238E27FC236}">
                <a16:creationId xmlns:a16="http://schemas.microsoft.com/office/drawing/2014/main" id="{80AE185C-811E-41BB-BE97-436A592B8D81}"/>
              </a:ext>
            </a:extLst>
          </p:cNvPr>
          <p:cNvSpPr>
            <a:spLocks noGrp="1"/>
          </p:cNvSpPr>
          <p:nvPr/>
        </p:nvSpPr>
        <p:spPr>
          <a:xfrm>
            <a:off x="4429125" y="1809750"/>
            <a:ext cx="666750" cy="666750"/>
          </a:xfrm>
          <a:prstGeom prst="ellipse">
            <a:avLst/>
          </a:prstGeom>
          <a:solidFill>
            <a:srgbClr val="0B3D91"/>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3</a:t>
            </a:r>
          </a:p>
        </p:txBody>
      </p:sp>
      <p:cxnSp>
        <p:nvCxnSpPr>
          <p:cNvPr id="45" name="Straight Arrow Connector 44"/>
          <p:cNvCxnSpPr>
            <a:stCxn id="9" idx="6"/>
            <a:endCxn id="13" idx="2"/>
          </p:cNvCxnSpPr>
          <p:nvPr/>
        </p:nvCxnSpPr>
        <p:spPr>
          <a:xfrm>
            <a:off x="3200400" y="2143125"/>
            <a:ext cx="1228725" cy="0"/>
          </a:xfrm>
          <a:prstGeom prst="straightConnector1">
            <a:avLst/>
          </a:prstGeom>
          <a:ln w="23813">
            <a:solidFill>
              <a:srgbClr val="0B3D91"/>
            </a:solidFill>
            <a:prstDash val="solid"/>
            <a:tailEnd type="arrow" w="med" len="med"/>
          </a:ln>
        </p:spPr>
      </p:cxnSp>
      <p:sp>
        <p:nvSpPr>
          <p:cNvPr id="15" name="Rectangle 14">
            <a:extLst>
              <a:ext uri="{FF2B5EF4-FFF2-40B4-BE49-F238E27FC236}">
                <a16:creationId xmlns:a16="http://schemas.microsoft.com/office/drawing/2014/main" id="{20615798-B234-4367-9680-EFA1ED752A3A}"/>
              </a:ext>
            </a:extLst>
          </p:cNvPr>
          <p:cNvSpPr>
            <a:spLocks noGrp="1"/>
          </p:cNvSpPr>
          <p:nvPr/>
        </p:nvSpPr>
        <p:spPr>
          <a:xfrm>
            <a:off x="4210050" y="2781300"/>
            <a:ext cx="1104900" cy="3238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Protect</a:t>
            </a:r>
          </a:p>
        </p:txBody>
      </p:sp>
      <p:sp>
        <p:nvSpPr>
          <p:cNvPr id="16" name="Rectangle 15">
            <a:extLst>
              <a:ext uri="{FF2B5EF4-FFF2-40B4-BE49-F238E27FC236}">
                <a16:creationId xmlns:a16="http://schemas.microsoft.com/office/drawing/2014/main" id="{36DC0146-2DD3-47DB-B501-B964111DD2BD}"/>
              </a:ext>
            </a:extLst>
          </p:cNvPr>
          <p:cNvSpPr>
            <a:spLocks noGrp="1"/>
          </p:cNvSpPr>
          <p:nvPr/>
        </p:nvSpPr>
        <p:spPr>
          <a:xfrm>
            <a:off x="3971925"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Timeouts, retries, rate limits, cache</a:t>
            </a:r>
          </a:p>
        </p:txBody>
      </p:sp>
      <p:sp>
        <p:nvSpPr>
          <p:cNvPr id="17" name="Oval 16">
            <a:extLst>
              <a:ext uri="{FF2B5EF4-FFF2-40B4-BE49-F238E27FC236}">
                <a16:creationId xmlns:a16="http://schemas.microsoft.com/office/drawing/2014/main" id="{265AA010-8517-46F9-9FB8-2EB7442EE82F}"/>
              </a:ext>
            </a:extLst>
          </p:cNvPr>
          <p:cNvSpPr>
            <a:spLocks noGrp="1"/>
          </p:cNvSpPr>
          <p:nvPr/>
        </p:nvSpPr>
        <p:spPr>
          <a:xfrm>
            <a:off x="6324600" y="1809750"/>
            <a:ext cx="666750" cy="666750"/>
          </a:xfrm>
          <a:prstGeom prst="ellipse">
            <a:avLst/>
          </a:prstGeom>
          <a:solidFill>
            <a:srgbClr val="166534"/>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4</a:t>
            </a:r>
          </a:p>
        </p:txBody>
      </p:sp>
      <p:cxnSp>
        <p:nvCxnSpPr>
          <p:cNvPr id="49" name="Straight Arrow Connector 48"/>
          <p:cNvCxnSpPr>
            <a:stCxn id="13" idx="6"/>
            <a:endCxn id="17" idx="2"/>
          </p:cNvCxnSpPr>
          <p:nvPr/>
        </p:nvCxnSpPr>
        <p:spPr>
          <a:xfrm>
            <a:off x="5095875" y="2143125"/>
            <a:ext cx="1228725" cy="0"/>
          </a:xfrm>
          <a:prstGeom prst="straightConnector1">
            <a:avLst/>
          </a:prstGeom>
          <a:ln w="23813">
            <a:solidFill>
              <a:srgbClr val="166534"/>
            </a:solidFill>
            <a:prstDash val="solid"/>
            <a:tailEnd type="arrow" w="med" len="med"/>
          </a:ln>
        </p:spPr>
      </p:cxnSp>
      <p:sp>
        <p:nvSpPr>
          <p:cNvPr id="19" name="Rectangle 18">
            <a:extLst>
              <a:ext uri="{FF2B5EF4-FFF2-40B4-BE49-F238E27FC236}">
                <a16:creationId xmlns:a16="http://schemas.microsoft.com/office/drawing/2014/main" id="{3CC21546-25D8-4EBD-B773-2249DAF6BEDB}"/>
              </a:ext>
            </a:extLst>
          </p:cNvPr>
          <p:cNvSpPr>
            <a:spLocks noGrp="1"/>
          </p:cNvSpPr>
          <p:nvPr/>
        </p:nvSpPr>
        <p:spPr>
          <a:xfrm>
            <a:off x="6105525" y="2781300"/>
            <a:ext cx="1104900" cy="323850"/>
          </a:xfrm>
          <a:prstGeom prst="rect">
            <a:avLst/>
          </a:prstGeom>
          <a:noFill/>
          <a:ln w="0">
            <a:noFill/>
          </a:ln>
        </p:spPr>
        <p:txBody>
          <a:bodyPr anchor="t">
            <a:normAutofit fontScale="92147"/>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Synthesize</a:t>
            </a:r>
          </a:p>
        </p:txBody>
      </p:sp>
      <p:sp>
        <p:nvSpPr>
          <p:cNvPr id="20" name="Rectangle 19">
            <a:extLst>
              <a:ext uri="{FF2B5EF4-FFF2-40B4-BE49-F238E27FC236}">
                <a16:creationId xmlns:a16="http://schemas.microsoft.com/office/drawing/2014/main" id="{EAAE6AFF-6F8A-4500-90EC-80944943E2C4}"/>
              </a:ext>
            </a:extLst>
          </p:cNvPr>
          <p:cNvSpPr>
            <a:spLocks noGrp="1"/>
          </p:cNvSpPr>
          <p:nvPr/>
        </p:nvSpPr>
        <p:spPr>
          <a:xfrm>
            <a:off x="5867400"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Gemini uses only retrieved evidence</a:t>
            </a:r>
          </a:p>
        </p:txBody>
      </p:sp>
      <p:sp>
        <p:nvSpPr>
          <p:cNvPr id="21" name="Oval 20">
            <a:extLst>
              <a:ext uri="{FF2B5EF4-FFF2-40B4-BE49-F238E27FC236}">
                <a16:creationId xmlns:a16="http://schemas.microsoft.com/office/drawing/2014/main" id="{D8311431-9F90-4651-9D14-F9F859FD6006}"/>
              </a:ext>
            </a:extLst>
          </p:cNvPr>
          <p:cNvSpPr>
            <a:spLocks noGrp="1"/>
          </p:cNvSpPr>
          <p:nvPr/>
        </p:nvSpPr>
        <p:spPr>
          <a:xfrm>
            <a:off x="8220075" y="1809750"/>
            <a:ext cx="666750" cy="666750"/>
          </a:xfrm>
          <a:prstGeom prst="ellipse">
            <a:avLst/>
          </a:prstGeom>
          <a:solidFill>
            <a:srgbClr val="166534"/>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5</a:t>
            </a:r>
          </a:p>
        </p:txBody>
      </p:sp>
      <p:cxnSp>
        <p:nvCxnSpPr>
          <p:cNvPr id="53" name="Straight Arrow Connector 52"/>
          <p:cNvCxnSpPr>
            <a:stCxn id="17" idx="6"/>
            <a:endCxn id="21" idx="2"/>
          </p:cNvCxnSpPr>
          <p:nvPr/>
        </p:nvCxnSpPr>
        <p:spPr>
          <a:xfrm>
            <a:off x="6991350" y="2143125"/>
            <a:ext cx="1228725" cy="0"/>
          </a:xfrm>
          <a:prstGeom prst="straightConnector1">
            <a:avLst/>
          </a:prstGeom>
          <a:ln w="23813">
            <a:solidFill>
              <a:srgbClr val="166534"/>
            </a:solidFill>
            <a:prstDash val="solid"/>
            <a:tailEnd type="arrow" w="med" len="med"/>
          </a:ln>
        </p:spPr>
      </p:cxnSp>
      <p:sp>
        <p:nvSpPr>
          <p:cNvPr id="23" name="Rectangle 22">
            <a:extLst>
              <a:ext uri="{FF2B5EF4-FFF2-40B4-BE49-F238E27FC236}">
                <a16:creationId xmlns:a16="http://schemas.microsoft.com/office/drawing/2014/main" id="{730D4310-6FFB-41DC-88FD-7322D63FA967}"/>
              </a:ext>
            </a:extLst>
          </p:cNvPr>
          <p:cNvSpPr>
            <a:spLocks noGrp="1"/>
          </p:cNvSpPr>
          <p:nvPr/>
        </p:nvSpPr>
        <p:spPr>
          <a:xfrm>
            <a:off x="8001000" y="2781300"/>
            <a:ext cx="1104900" cy="3238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Verify</a:t>
            </a:r>
          </a:p>
        </p:txBody>
      </p:sp>
      <p:sp>
        <p:nvSpPr>
          <p:cNvPr id="24" name="Rectangle 23">
            <a:extLst>
              <a:ext uri="{FF2B5EF4-FFF2-40B4-BE49-F238E27FC236}">
                <a16:creationId xmlns:a16="http://schemas.microsoft.com/office/drawing/2014/main" id="{65787EDF-0EB7-41B3-970C-DAD6BD33A64A}"/>
              </a:ext>
            </a:extLst>
          </p:cNvPr>
          <p:cNvSpPr>
            <a:spLocks noGrp="1"/>
          </p:cNvSpPr>
          <p:nvPr/>
        </p:nvSpPr>
        <p:spPr>
          <a:xfrm>
            <a:off x="7762875"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Citation markers must map to sources</a:t>
            </a:r>
          </a:p>
        </p:txBody>
      </p:sp>
      <p:sp>
        <p:nvSpPr>
          <p:cNvPr id="25" name="Oval 24">
            <a:extLst>
              <a:ext uri="{FF2B5EF4-FFF2-40B4-BE49-F238E27FC236}">
                <a16:creationId xmlns:a16="http://schemas.microsoft.com/office/drawing/2014/main" id="{CEA511A5-F346-4199-A55F-1D8ACBF1B8F3}"/>
              </a:ext>
            </a:extLst>
          </p:cNvPr>
          <p:cNvSpPr>
            <a:spLocks noGrp="1"/>
          </p:cNvSpPr>
          <p:nvPr/>
        </p:nvSpPr>
        <p:spPr>
          <a:xfrm>
            <a:off x="10115550" y="1809750"/>
            <a:ext cx="666750" cy="666750"/>
          </a:xfrm>
          <a:prstGeom prst="ellipse">
            <a:avLst/>
          </a:prstGeom>
          <a:solidFill>
            <a:srgbClr val="166534"/>
          </a:solidFill>
          <a:ln w="0">
            <a:noFill/>
          </a:ln>
        </p:spPr>
        <p:txBody>
          <a:bodyPr anchor="ctr">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6</a:t>
            </a:r>
          </a:p>
        </p:txBody>
      </p:sp>
      <p:cxnSp>
        <p:nvCxnSpPr>
          <p:cNvPr id="57" name="Straight Arrow Connector 56"/>
          <p:cNvCxnSpPr>
            <a:stCxn id="21" idx="6"/>
            <a:endCxn id="25" idx="2"/>
          </p:cNvCxnSpPr>
          <p:nvPr/>
        </p:nvCxnSpPr>
        <p:spPr>
          <a:xfrm>
            <a:off x="8886825" y="2143125"/>
            <a:ext cx="1228725" cy="0"/>
          </a:xfrm>
          <a:prstGeom prst="straightConnector1">
            <a:avLst/>
          </a:prstGeom>
          <a:ln w="23813">
            <a:solidFill>
              <a:srgbClr val="166534"/>
            </a:solidFill>
            <a:prstDash val="solid"/>
            <a:tailEnd type="arrow" w="med" len="med"/>
          </a:ln>
        </p:spPr>
      </p:cxnSp>
      <p:sp>
        <p:nvSpPr>
          <p:cNvPr id="27" name="Rectangle 26">
            <a:extLst>
              <a:ext uri="{FF2B5EF4-FFF2-40B4-BE49-F238E27FC236}">
                <a16:creationId xmlns:a16="http://schemas.microsoft.com/office/drawing/2014/main" id="{47454C32-01F7-428C-88CA-B4423EBAB58B}"/>
              </a:ext>
            </a:extLst>
          </p:cNvPr>
          <p:cNvSpPr>
            <a:spLocks noGrp="1"/>
          </p:cNvSpPr>
          <p:nvPr/>
        </p:nvSpPr>
        <p:spPr>
          <a:xfrm>
            <a:off x="9896475" y="2781300"/>
            <a:ext cx="1104900" cy="3238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Persist</a:t>
            </a:r>
          </a:p>
        </p:txBody>
      </p:sp>
      <p:sp>
        <p:nvSpPr>
          <p:cNvPr id="28" name="Rectangle 27">
            <a:extLst>
              <a:ext uri="{FF2B5EF4-FFF2-40B4-BE49-F238E27FC236}">
                <a16:creationId xmlns:a16="http://schemas.microsoft.com/office/drawing/2014/main" id="{4C4BDD35-6B5C-4648-96B3-F206E79CF7D8}"/>
              </a:ext>
            </a:extLst>
          </p:cNvPr>
          <p:cNvSpPr>
            <a:spLocks noGrp="1"/>
          </p:cNvSpPr>
          <p:nvPr/>
        </p:nvSpPr>
        <p:spPr>
          <a:xfrm>
            <a:off x="9658350" y="3257550"/>
            <a:ext cx="1581150" cy="857250"/>
          </a:xfrm>
          <a:prstGeom prst="rect">
            <a:avLst/>
          </a:prstGeom>
          <a:noFill/>
          <a:ln w="0">
            <a:noFill/>
          </a:ln>
        </p:spPr>
        <p:txBody>
          <a:bodyPr anchor="t">
            <a:normAutofit/>
          </a:bodyPr>
          <a:lstStyle/>
          <a:p>
            <a:pPr algn="ctr">
              <a:defRPr sz="1200" b="0" i="0">
                <a:solidFill>
                  <a:srgbClr val="5B6475"/>
                </a:solidFill>
                <a:latin typeface="Arial"/>
                <a:ea typeface="Arial"/>
                <a:cs typeface="Arial"/>
              </a:defRPr>
            </a:pPr>
            <a:r>
              <a:rPr sz="1200" b="0" i="0">
                <a:solidFill>
                  <a:srgbClr val="5B6475"/>
                </a:solidFill>
                <a:latin typeface="Arial"/>
                <a:ea typeface="Arial"/>
                <a:cs typeface="Arial"/>
              </a:rPr>
              <a:t>Session, sources, attempts and citations</a:t>
            </a:r>
          </a:p>
        </p:txBody>
      </p:sp>
      <p:sp>
        <p:nvSpPr>
          <p:cNvPr id="29" name="Rectangle: Rounded Corners 28">
            <a:extLst>
              <a:ext uri="{FF2B5EF4-FFF2-40B4-BE49-F238E27FC236}">
                <a16:creationId xmlns:a16="http://schemas.microsoft.com/office/drawing/2014/main" id="{4D8EECA2-91CB-4823-851F-6838B584AC40}"/>
              </a:ext>
            </a:extLst>
          </p:cNvPr>
          <p:cNvSpPr>
            <a:spLocks noGrp="1"/>
          </p:cNvSpPr>
          <p:nvPr/>
        </p:nvSpPr>
        <p:spPr>
          <a:xfrm>
            <a:off x="704850" y="4686300"/>
            <a:ext cx="10763250" cy="1000125"/>
          </a:xfrm>
          <a:prstGeom prst="roundRect">
            <a:avLst>
              <a:gd name="adj" fmla="val 7619"/>
            </a:avLst>
          </a:prstGeom>
          <a:solidFill>
            <a:srgbClr val="F2F4F8"/>
          </a:solidFill>
          <a:ln w="9525">
            <a:solidFill>
              <a:srgbClr val="D6DCE7"/>
            </a:solidFill>
            <a:prstDash val="solid"/>
          </a:ln>
        </p:spPr>
        <p:txBody>
          <a:bodyPr/>
          <a:lstStyle/>
          <a:p>
            <a:endParaRPr lang="en-US"/>
          </a:p>
        </p:txBody>
      </p:sp>
      <p:sp>
        <p:nvSpPr>
          <p:cNvPr id="30" name="Rectangle 29">
            <a:extLst>
              <a:ext uri="{FF2B5EF4-FFF2-40B4-BE49-F238E27FC236}">
                <a16:creationId xmlns:a16="http://schemas.microsoft.com/office/drawing/2014/main" id="{A39753C0-1A3C-4AAF-A362-13B47AD42EAA}"/>
              </a:ext>
            </a:extLst>
          </p:cNvPr>
          <p:cNvSpPr>
            <a:spLocks noGrp="1"/>
          </p:cNvSpPr>
          <p:nvPr/>
        </p:nvSpPr>
        <p:spPr>
          <a:xfrm>
            <a:off x="952500" y="4914900"/>
            <a:ext cx="2333625" cy="285750"/>
          </a:xfrm>
          <a:prstGeom prst="rect">
            <a:avLst/>
          </a:prstGeom>
          <a:noFill/>
          <a:ln w="0">
            <a:noFill/>
          </a:ln>
        </p:spPr>
        <p:txBody>
          <a:bodyPr anchor="t">
            <a:normAutofit fontScale="77273"/>
          </a:bodyPr>
          <a:lstStyle/>
          <a:p>
            <a:pPr algn="l">
              <a:defRPr sz="1650" b="1" i="0">
                <a:solidFill>
                  <a:srgbClr val="B42318"/>
                </a:solidFill>
                <a:latin typeface="Arial"/>
                <a:ea typeface="Arial"/>
                <a:cs typeface="Arial"/>
              </a:defRPr>
            </a:pPr>
            <a:r>
              <a:rPr sz="1650" b="1" i="0">
                <a:solidFill>
                  <a:srgbClr val="B42318"/>
                </a:solidFill>
                <a:latin typeface="Arial"/>
                <a:ea typeface="Arial"/>
                <a:cs typeface="Arial"/>
              </a:rPr>
              <a:t>Graceful degradation</a:t>
            </a:r>
          </a:p>
        </p:txBody>
      </p:sp>
      <p:sp>
        <p:nvSpPr>
          <p:cNvPr id="31" name="Rectangle 30">
            <a:extLst>
              <a:ext uri="{FF2B5EF4-FFF2-40B4-BE49-F238E27FC236}">
                <a16:creationId xmlns:a16="http://schemas.microsoft.com/office/drawing/2014/main" id="{9523039E-FD1B-4901-9248-EDACDA32BAE6}"/>
              </a:ext>
            </a:extLst>
          </p:cNvPr>
          <p:cNvSpPr>
            <a:spLocks noGrp="1"/>
          </p:cNvSpPr>
          <p:nvPr/>
        </p:nvSpPr>
        <p:spPr>
          <a:xfrm>
            <a:off x="3352800" y="4857750"/>
            <a:ext cx="7715250" cy="59055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A failed source becomes a warning. The remaining evidence still reaches synthesis; all-source failure stops cleanly before the LLM call.</a:t>
            </a:r>
          </a:p>
        </p:txBody>
      </p:sp>
    </p:spTree>
    <p:extLst>
      <p:ext uri="{BB962C8B-B14F-4D97-AF65-F5344CB8AC3E}">
        <p14:creationId xmlns:p14="http://schemas.microsoft.com/office/powerpoint/2010/main" val="161966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44E39DF-F337-4D2D-A579-0178217ECA54}"/>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Architecture and boundaries</a:t>
            </a:r>
          </a:p>
        </p:txBody>
      </p:sp>
      <p:sp>
        <p:nvSpPr>
          <p:cNvPr id="2" name="Straight Connector 1">
            <a:extLst>
              <a:ext uri="{FF2B5EF4-FFF2-40B4-BE49-F238E27FC236}">
                <a16:creationId xmlns:a16="http://schemas.microsoft.com/office/drawing/2014/main" id="{23DDBD2F-CC38-4426-BA5B-A3A7F3E56F86}"/>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CDEDBF78-DAF6-47B0-87B6-C01A412F55B8}"/>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04</a:t>
            </a:r>
          </a:p>
        </p:txBody>
      </p:sp>
      <p:sp>
        <p:nvSpPr>
          <p:cNvPr id="4" name="Rectangle 3">
            <a:extLst>
              <a:ext uri="{FF2B5EF4-FFF2-40B4-BE49-F238E27FC236}">
                <a16:creationId xmlns:a16="http://schemas.microsoft.com/office/drawing/2014/main" id="{BF4C9480-F1F9-47ED-B212-00F0CF318A97}"/>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EE1004A8-7850-45D9-8B65-83E1D317694B}"/>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4/10</a:t>
            </a:r>
          </a:p>
        </p:txBody>
      </p:sp>
      <p:sp>
        <p:nvSpPr>
          <p:cNvPr id="6" name="Rectangle 5">
            <a:extLst>
              <a:ext uri="{FF2B5EF4-FFF2-40B4-BE49-F238E27FC236}">
                <a16:creationId xmlns:a16="http://schemas.microsoft.com/office/drawing/2014/main" id="{A203BA2C-4F9D-4657-96DD-616B49FB536F}"/>
              </a:ext>
            </a:extLst>
          </p:cNvPr>
          <p:cNvSpPr>
            <a:spLocks noGrp="1"/>
          </p:cNvSpPr>
          <p:nvPr/>
        </p:nvSpPr>
        <p:spPr>
          <a:xfrm>
            <a:off x="742950" y="1219200"/>
            <a:ext cx="4095750" cy="285750"/>
          </a:xfrm>
          <a:prstGeom prst="rect">
            <a:avLst/>
          </a:prstGeom>
          <a:noFill/>
          <a:ln w="0">
            <a:noFill/>
          </a:ln>
        </p:spPr>
        <p:txBody>
          <a:bodyPr anchor="t">
            <a:normAutofit fontScale="85000"/>
          </a:bodyPr>
          <a:lstStyle/>
          <a:p>
            <a:pPr algn="l">
              <a:defRPr sz="1500" b="1" i="0">
                <a:solidFill>
                  <a:srgbClr val="0B3D91"/>
                </a:solidFill>
                <a:latin typeface="Arial"/>
                <a:ea typeface="Arial"/>
                <a:cs typeface="Arial"/>
              </a:defRPr>
            </a:pPr>
            <a:r>
              <a:rPr sz="1500" b="1" i="0">
                <a:solidFill>
                  <a:srgbClr val="0B3D91"/>
                </a:solidFill>
                <a:latin typeface="Arial"/>
                <a:ea typeface="Arial"/>
                <a:cs typeface="Arial"/>
              </a:rPr>
              <a:t>Student-owned software engineering layer</a:t>
            </a:r>
          </a:p>
        </p:txBody>
      </p:sp>
      <p:sp>
        <p:nvSpPr>
          <p:cNvPr id="7" name="Rectangle 6">
            <a:extLst>
              <a:ext uri="{FF2B5EF4-FFF2-40B4-BE49-F238E27FC236}">
                <a16:creationId xmlns:a16="http://schemas.microsoft.com/office/drawing/2014/main" id="{31E8A186-3A7D-46DE-81C7-83596F9C8FEC}"/>
              </a:ext>
            </a:extLst>
          </p:cNvPr>
          <p:cNvSpPr>
            <a:spLocks noGrp="1"/>
          </p:cNvSpPr>
          <p:nvPr/>
        </p:nvSpPr>
        <p:spPr>
          <a:xfrm>
            <a:off x="8820150" y="1219200"/>
            <a:ext cx="2381250" cy="285750"/>
          </a:xfrm>
          <a:prstGeom prst="rect">
            <a:avLst/>
          </a:prstGeom>
          <a:noFill/>
          <a:ln w="0">
            <a:noFill/>
          </a:ln>
        </p:spPr>
        <p:txBody>
          <a:bodyPr anchor="t">
            <a:normAutofit fontScale="85000"/>
          </a:bodyPr>
          <a:lstStyle/>
          <a:p>
            <a:pPr algn="ctr">
              <a:defRPr sz="1500" b="1" i="0">
                <a:solidFill>
                  <a:srgbClr val="5B6475"/>
                </a:solidFill>
                <a:latin typeface="Arial"/>
                <a:ea typeface="Arial"/>
                <a:cs typeface="Arial"/>
              </a:defRPr>
            </a:pPr>
            <a:r>
              <a:rPr sz="1500" b="1" i="0">
                <a:solidFill>
                  <a:srgbClr val="5B6475"/>
                </a:solidFill>
                <a:latin typeface="Arial"/>
                <a:ea typeface="Arial"/>
                <a:cs typeface="Arial"/>
              </a:rPr>
              <a:t>Provided AI package</a:t>
            </a:r>
          </a:p>
        </p:txBody>
      </p:sp>
      <p:sp>
        <p:nvSpPr>
          <p:cNvPr id="8" name="Rectangle: Rounded Corners 7">
            <a:extLst>
              <a:ext uri="{FF2B5EF4-FFF2-40B4-BE49-F238E27FC236}">
                <a16:creationId xmlns:a16="http://schemas.microsoft.com/office/drawing/2014/main" id="{093D7810-ED50-465F-A2A2-9FFBB9FB0483}"/>
              </a:ext>
            </a:extLst>
          </p:cNvPr>
          <p:cNvSpPr>
            <a:spLocks noGrp="1"/>
          </p:cNvSpPr>
          <p:nvPr/>
        </p:nvSpPr>
        <p:spPr>
          <a:xfrm>
            <a:off x="762000" y="1809750"/>
            <a:ext cx="2476500" cy="666750"/>
          </a:xfrm>
          <a:prstGeom prst="roundRect">
            <a:avLst>
              <a:gd name="adj" fmla="val 11429"/>
            </a:avLst>
          </a:prstGeom>
          <a:solidFill>
            <a:srgbClr val="E7F5EB"/>
          </a:solidFill>
          <a:ln w="9525">
            <a:solidFill>
              <a:srgbClr val="166534"/>
            </a:solidFill>
            <a:prstDash val="solid"/>
          </a:ln>
        </p:spPr>
        <p:txBody>
          <a:bodyPr anchor="ctr">
            <a:normAutofit/>
          </a:bodyPr>
          <a:lstStyle/>
          <a:p>
            <a:pPr algn="ctr">
              <a:defRPr sz="1500" b="1">
                <a:solidFill>
                  <a:srgbClr val="166534"/>
                </a:solidFill>
                <a:latin typeface="Arial"/>
                <a:ea typeface="Arial"/>
                <a:cs typeface="Arial"/>
              </a:defRPr>
            </a:pPr>
            <a:r>
              <a:rPr sz="1500" b="1">
                <a:solidFill>
                  <a:srgbClr val="166534"/>
                </a:solidFill>
                <a:latin typeface="Arial"/>
                <a:ea typeface="Arial"/>
                <a:cs typeface="Arial"/>
              </a:rPr>
              <a:t>CLI  +  Streamlit</a:t>
            </a:r>
          </a:p>
        </p:txBody>
      </p:sp>
      <p:sp>
        <p:nvSpPr>
          <p:cNvPr id="9" name="Rectangle: Rounded Corners 8">
            <a:extLst>
              <a:ext uri="{FF2B5EF4-FFF2-40B4-BE49-F238E27FC236}">
                <a16:creationId xmlns:a16="http://schemas.microsoft.com/office/drawing/2014/main" id="{AFD27FA1-A6C2-4C5F-8CAA-6DA4572389A5}"/>
              </a:ext>
            </a:extLst>
          </p:cNvPr>
          <p:cNvSpPr>
            <a:spLocks noGrp="1"/>
          </p:cNvSpPr>
          <p:nvPr/>
        </p:nvSpPr>
        <p:spPr>
          <a:xfrm>
            <a:off x="3952875" y="1809750"/>
            <a:ext cx="2095500" cy="666750"/>
          </a:xfrm>
          <a:prstGeom prst="roundRect">
            <a:avLst>
              <a:gd name="adj" fmla="val 11429"/>
            </a:avLst>
          </a:prstGeom>
          <a:solidFill>
            <a:srgbClr val="EAF1FB"/>
          </a:solidFill>
          <a:ln w="9525">
            <a:solidFill>
              <a:srgbClr val="0B3D91"/>
            </a:solidFill>
            <a:prstDash val="solid"/>
          </a:ln>
        </p:spPr>
        <p:txBody>
          <a:bodyPr anchor="ctr">
            <a:normAutofit/>
          </a:bodyPr>
          <a:lstStyle/>
          <a:p>
            <a:pPr algn="ctr">
              <a:defRPr sz="1500" b="1">
                <a:solidFill>
                  <a:srgbClr val="0B3D91"/>
                </a:solidFill>
                <a:latin typeface="Arial"/>
                <a:ea typeface="Arial"/>
                <a:cs typeface="Arial"/>
              </a:defRPr>
            </a:pPr>
            <a:r>
              <a:rPr sz="1500" b="1">
                <a:solidFill>
                  <a:srgbClr val="0B3D91"/>
                </a:solidFill>
                <a:latin typeface="Arial"/>
                <a:ea typeface="Arial"/>
                <a:cs typeface="Arial"/>
              </a:rPr>
              <a:t>Researcher</a:t>
            </a:r>
          </a:p>
          <a:p>
            <a:pPr algn="ctr">
              <a:defRPr sz="1500" b="1">
                <a:solidFill>
                  <a:srgbClr val="0B3D91"/>
                </a:solidFill>
                <a:latin typeface="Arial"/>
                <a:ea typeface="Arial"/>
                <a:cs typeface="Arial"/>
              </a:defRPr>
            </a:pPr>
            <a:r>
              <a:rPr sz="1500" b="1">
                <a:solidFill>
                  <a:srgbClr val="0B3D91"/>
                </a:solidFill>
                <a:latin typeface="Arial"/>
                <a:ea typeface="Arial"/>
                <a:cs typeface="Arial"/>
              </a:rPr>
              <a:t>use case</a:t>
            </a:r>
          </a:p>
        </p:txBody>
      </p:sp>
      <p:sp>
        <p:nvSpPr>
          <p:cNvPr id="10" name="Rectangle: Rounded Corners 9">
            <a:extLst>
              <a:ext uri="{FF2B5EF4-FFF2-40B4-BE49-F238E27FC236}">
                <a16:creationId xmlns:a16="http://schemas.microsoft.com/office/drawing/2014/main" id="{9FF0021D-163E-43E4-A201-67B5D50240D9}"/>
              </a:ext>
            </a:extLst>
          </p:cNvPr>
          <p:cNvSpPr>
            <a:spLocks noGrp="1"/>
          </p:cNvSpPr>
          <p:nvPr/>
        </p:nvSpPr>
        <p:spPr>
          <a:xfrm>
            <a:off x="3952875" y="3143250"/>
            <a:ext cx="2095500" cy="781050"/>
          </a:xfrm>
          <a:prstGeom prst="roundRect">
            <a:avLst>
              <a:gd name="adj" fmla="val 9756"/>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SourceOrchestrator</a:t>
            </a:r>
          </a:p>
          <a:p>
            <a:pPr algn="ctr">
              <a:defRPr sz="1350" b="1">
                <a:solidFill>
                  <a:srgbClr val="14213D"/>
                </a:solidFill>
                <a:latin typeface="Arial"/>
                <a:ea typeface="Arial"/>
                <a:cs typeface="Arial"/>
              </a:defRPr>
            </a:pPr>
            <a:r>
              <a:rPr sz="1350" b="1">
                <a:solidFill>
                  <a:srgbClr val="14213D"/>
                </a:solidFill>
                <a:latin typeface="Arial"/>
                <a:ea typeface="Arial"/>
                <a:cs typeface="Arial"/>
              </a:rPr>
              <a:t>bounded asyncio</a:t>
            </a:r>
          </a:p>
        </p:txBody>
      </p:sp>
      <p:sp>
        <p:nvSpPr>
          <p:cNvPr id="11" name="Rectangle: Rounded Corners 10">
            <a:extLst>
              <a:ext uri="{FF2B5EF4-FFF2-40B4-BE49-F238E27FC236}">
                <a16:creationId xmlns:a16="http://schemas.microsoft.com/office/drawing/2014/main" id="{2CCB2022-522C-4D22-A715-284B5A11C358}"/>
              </a:ext>
            </a:extLst>
          </p:cNvPr>
          <p:cNvSpPr>
            <a:spLocks noGrp="1"/>
          </p:cNvSpPr>
          <p:nvPr/>
        </p:nvSpPr>
        <p:spPr>
          <a:xfrm>
            <a:off x="6762750" y="2857500"/>
            <a:ext cx="2286000" cy="838200"/>
          </a:xfrm>
          <a:prstGeom prst="roundRect">
            <a:avLst>
              <a:gd name="adj" fmla="val 9091"/>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SourceService</a:t>
            </a:r>
          </a:p>
          <a:p>
            <a:pPr algn="ctr">
              <a:defRPr sz="1350" b="1">
                <a:solidFill>
                  <a:srgbClr val="14213D"/>
                </a:solidFill>
                <a:latin typeface="Arial"/>
                <a:ea typeface="Arial"/>
                <a:cs typeface="Arial"/>
              </a:defRPr>
            </a:pPr>
            <a:r>
              <a:rPr sz="1350" b="1">
                <a:solidFill>
                  <a:srgbClr val="14213D"/>
                </a:solidFill>
                <a:latin typeface="Arial"/>
                <a:ea typeface="Arial"/>
                <a:cs typeface="Arial"/>
              </a:rPr>
              <a:t>cache · retry · timeout</a:t>
            </a:r>
          </a:p>
        </p:txBody>
      </p:sp>
      <p:sp>
        <p:nvSpPr>
          <p:cNvPr id="12" name="Rectangle: Rounded Corners 11">
            <a:extLst>
              <a:ext uri="{FF2B5EF4-FFF2-40B4-BE49-F238E27FC236}">
                <a16:creationId xmlns:a16="http://schemas.microsoft.com/office/drawing/2014/main" id="{9CF35260-688D-492B-81B4-DCEEE5D44C62}"/>
              </a:ext>
            </a:extLst>
          </p:cNvPr>
          <p:cNvSpPr>
            <a:spLocks noGrp="1"/>
          </p:cNvSpPr>
          <p:nvPr/>
        </p:nvSpPr>
        <p:spPr>
          <a:xfrm>
            <a:off x="6762750" y="4152900"/>
            <a:ext cx="2286000" cy="838200"/>
          </a:xfrm>
          <a:prstGeom prst="roundRect">
            <a:avLst>
              <a:gd name="adj" fmla="val 9091"/>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SynthesisService</a:t>
            </a:r>
          </a:p>
          <a:p>
            <a:pPr algn="ctr">
              <a:defRPr sz="1350" b="1">
                <a:solidFill>
                  <a:srgbClr val="14213D"/>
                </a:solidFill>
                <a:latin typeface="Arial"/>
                <a:ea typeface="Arial"/>
                <a:cs typeface="Arial"/>
              </a:defRPr>
            </a:pPr>
            <a:r>
              <a:rPr sz="1350" b="1">
                <a:solidFill>
                  <a:srgbClr val="14213D"/>
                </a:solidFill>
                <a:latin typeface="Arial"/>
                <a:ea typeface="Arial"/>
                <a:cs typeface="Arial"/>
              </a:rPr>
              <a:t>thread offload · validation</a:t>
            </a:r>
          </a:p>
        </p:txBody>
      </p:sp>
      <p:sp>
        <p:nvSpPr>
          <p:cNvPr id="13" name="Rectangle: Rounded Corners 12">
            <a:extLst>
              <a:ext uri="{FF2B5EF4-FFF2-40B4-BE49-F238E27FC236}">
                <a16:creationId xmlns:a16="http://schemas.microsoft.com/office/drawing/2014/main" id="{A93C0D1C-4C53-479E-9D1C-B41A39DB3295}"/>
              </a:ext>
            </a:extLst>
          </p:cNvPr>
          <p:cNvSpPr>
            <a:spLocks noGrp="1"/>
          </p:cNvSpPr>
          <p:nvPr/>
        </p:nvSpPr>
        <p:spPr>
          <a:xfrm>
            <a:off x="9620250" y="2857500"/>
            <a:ext cx="1619250" cy="647700"/>
          </a:xfrm>
          <a:prstGeom prst="roundRect">
            <a:avLst>
              <a:gd name="adj" fmla="val 11765"/>
            </a:avLst>
          </a:prstGeom>
          <a:solidFill>
            <a:srgbClr val="F2F4F8"/>
          </a:solidFill>
          <a:ln w="9525">
            <a:solidFill>
              <a:srgbClr val="5B6475"/>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ai.fetch_*</a:t>
            </a:r>
          </a:p>
        </p:txBody>
      </p:sp>
      <p:sp>
        <p:nvSpPr>
          <p:cNvPr id="14" name="Rectangle: Rounded Corners 13">
            <a:extLst>
              <a:ext uri="{FF2B5EF4-FFF2-40B4-BE49-F238E27FC236}">
                <a16:creationId xmlns:a16="http://schemas.microsoft.com/office/drawing/2014/main" id="{BF8C9A08-7B10-4E55-B94D-DCC20AD534BE}"/>
              </a:ext>
            </a:extLst>
          </p:cNvPr>
          <p:cNvSpPr>
            <a:spLocks noGrp="1"/>
          </p:cNvSpPr>
          <p:nvPr/>
        </p:nvSpPr>
        <p:spPr>
          <a:xfrm>
            <a:off x="9620250" y="4248150"/>
            <a:ext cx="1619250" cy="647700"/>
          </a:xfrm>
          <a:prstGeom prst="roundRect">
            <a:avLst>
              <a:gd name="adj" fmla="val 11765"/>
            </a:avLst>
          </a:prstGeom>
          <a:solidFill>
            <a:srgbClr val="F2F4F8"/>
          </a:solidFill>
          <a:ln w="9525">
            <a:solidFill>
              <a:srgbClr val="5B6475"/>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ai.synthesize</a:t>
            </a:r>
          </a:p>
        </p:txBody>
      </p:sp>
      <p:sp>
        <p:nvSpPr>
          <p:cNvPr id="15" name="Rectangle: Rounded Corners 14">
            <a:extLst>
              <a:ext uri="{FF2B5EF4-FFF2-40B4-BE49-F238E27FC236}">
                <a16:creationId xmlns:a16="http://schemas.microsoft.com/office/drawing/2014/main" id="{25D8934E-4CFA-4442-B8B5-5DB34953172F}"/>
              </a:ext>
            </a:extLst>
          </p:cNvPr>
          <p:cNvSpPr>
            <a:spLocks noGrp="1"/>
          </p:cNvSpPr>
          <p:nvPr/>
        </p:nvSpPr>
        <p:spPr>
          <a:xfrm>
            <a:off x="762000" y="4191000"/>
            <a:ext cx="2476500" cy="819150"/>
          </a:xfrm>
          <a:prstGeom prst="roundRect">
            <a:avLst>
              <a:gd name="adj" fmla="val 9302"/>
            </a:avLst>
          </a:prstGeom>
          <a:solidFill>
            <a:srgbClr val="E7F5EB"/>
          </a:solidFill>
          <a:ln w="9525">
            <a:solidFill>
              <a:srgbClr val="166534"/>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Repository interface</a:t>
            </a:r>
          </a:p>
          <a:p>
            <a:pPr algn="ctr">
              <a:defRPr sz="1350" b="1">
                <a:solidFill>
                  <a:srgbClr val="14213D"/>
                </a:solidFill>
                <a:latin typeface="Arial"/>
                <a:ea typeface="Arial"/>
                <a:cs typeface="Arial"/>
              </a:defRPr>
            </a:pPr>
            <a:r>
              <a:rPr sz="1350" b="1">
                <a:solidFill>
                  <a:srgbClr val="14213D"/>
                </a:solidFill>
                <a:latin typeface="Arial"/>
                <a:ea typeface="Arial"/>
                <a:cs typeface="Arial"/>
              </a:rPr>
              <a:t>PostgreSQL / memory</a:t>
            </a:r>
          </a:p>
        </p:txBody>
      </p:sp>
      <p:cxnSp>
        <p:nvCxnSpPr>
          <p:cNvPr id="39" name="Straight Arrow Connector 38"/>
          <p:cNvCxnSpPr>
            <a:stCxn id="8" idx="3"/>
            <a:endCxn id="9" idx="1"/>
          </p:cNvCxnSpPr>
          <p:nvPr/>
        </p:nvCxnSpPr>
        <p:spPr>
          <a:xfrm>
            <a:off x="3238500" y="2143125"/>
            <a:ext cx="714375" cy="0"/>
          </a:xfrm>
          <a:prstGeom prst="straightConnector1">
            <a:avLst/>
          </a:prstGeom>
          <a:ln w="23813">
            <a:solidFill>
              <a:srgbClr val="0B3D91"/>
            </a:solidFill>
            <a:prstDash val="solid"/>
            <a:tailEnd type="arrow" w="med" len="med"/>
          </a:ln>
        </p:spPr>
      </p:cxnSp>
      <p:cxnSp>
        <p:nvCxnSpPr>
          <p:cNvPr id="40" name="Straight Arrow Connector 39"/>
          <p:cNvCxnSpPr>
            <a:stCxn id="9" idx="2"/>
            <a:endCxn id="10" idx="0"/>
          </p:cNvCxnSpPr>
          <p:nvPr/>
        </p:nvCxnSpPr>
        <p:spPr>
          <a:xfrm>
            <a:off x="5000625" y="2476500"/>
            <a:ext cx="0" cy="666750"/>
          </a:xfrm>
          <a:prstGeom prst="straightConnector1">
            <a:avLst/>
          </a:prstGeom>
          <a:ln w="23813">
            <a:solidFill>
              <a:srgbClr val="0B3D91"/>
            </a:solidFill>
            <a:prstDash val="solid"/>
            <a:tailEnd type="arrow" w="med" len="med"/>
          </a:ln>
        </p:spPr>
      </p:cxnSp>
      <p:cxnSp>
        <p:nvCxnSpPr>
          <p:cNvPr id="41" name="Connector: Elbow 40"/>
          <p:cNvCxnSpPr>
            <a:stCxn id="10" idx="3"/>
            <a:endCxn id="11" idx="1"/>
          </p:cNvCxnSpPr>
          <p:nvPr/>
        </p:nvCxnSpPr>
        <p:spPr>
          <a:xfrm flipV="1">
            <a:off x="6048375" y="3276600"/>
            <a:ext cx="714375" cy="257175"/>
          </a:xfrm>
          <a:prstGeom prst="bentConnector3">
            <a:avLst>
              <a:gd name="adj1" fmla="val 50000"/>
            </a:avLst>
          </a:prstGeom>
          <a:ln w="23813">
            <a:solidFill>
              <a:srgbClr val="0B3D91"/>
            </a:solidFill>
            <a:prstDash val="solid"/>
            <a:tailEnd type="arrow" w="med" len="med"/>
          </a:ln>
        </p:spPr>
      </p:cxnSp>
      <p:cxnSp>
        <p:nvCxnSpPr>
          <p:cNvPr id="42" name="Connector: Elbow 41"/>
          <p:cNvCxnSpPr>
            <a:stCxn id="11" idx="3"/>
            <a:endCxn id="13" idx="1"/>
          </p:cNvCxnSpPr>
          <p:nvPr/>
        </p:nvCxnSpPr>
        <p:spPr>
          <a:xfrm flipV="1">
            <a:off x="9048750" y="3181350"/>
            <a:ext cx="571500" cy="95250"/>
          </a:xfrm>
          <a:prstGeom prst="bentConnector3">
            <a:avLst>
              <a:gd name="adj1" fmla="val 50000"/>
            </a:avLst>
          </a:prstGeom>
          <a:ln w="23813">
            <a:solidFill>
              <a:srgbClr val="0B3D91"/>
            </a:solidFill>
            <a:prstDash val="solid"/>
            <a:tailEnd type="arrow" w="med" len="med"/>
          </a:ln>
        </p:spPr>
      </p:cxnSp>
      <p:cxnSp>
        <p:nvCxnSpPr>
          <p:cNvPr id="43" name="Connector: Elbow 42"/>
          <p:cNvCxnSpPr>
            <a:stCxn id="9" idx="3"/>
            <a:endCxn id="12" idx="1"/>
          </p:cNvCxnSpPr>
          <p:nvPr/>
        </p:nvCxnSpPr>
        <p:spPr>
          <a:xfrm>
            <a:off x="6048375" y="2143125"/>
            <a:ext cx="714375" cy="2428875"/>
          </a:xfrm>
          <a:prstGeom prst="bentConnector3">
            <a:avLst>
              <a:gd name="adj1" fmla="val 50000"/>
            </a:avLst>
          </a:prstGeom>
          <a:ln w="23813">
            <a:solidFill>
              <a:srgbClr val="166534"/>
            </a:solidFill>
            <a:prstDash val="solid"/>
            <a:tailEnd type="arrow" w="med" len="med"/>
          </a:ln>
        </p:spPr>
      </p:cxnSp>
      <p:cxnSp>
        <p:nvCxnSpPr>
          <p:cNvPr id="44" name="Straight Arrow Connector 43"/>
          <p:cNvCxnSpPr>
            <a:stCxn id="12" idx="3"/>
            <a:endCxn id="14" idx="1"/>
          </p:cNvCxnSpPr>
          <p:nvPr/>
        </p:nvCxnSpPr>
        <p:spPr>
          <a:xfrm>
            <a:off x="9048750" y="4572000"/>
            <a:ext cx="571500" cy="0"/>
          </a:xfrm>
          <a:prstGeom prst="straightConnector1">
            <a:avLst/>
          </a:prstGeom>
          <a:ln w="23813">
            <a:solidFill>
              <a:srgbClr val="166534"/>
            </a:solidFill>
            <a:prstDash val="solid"/>
            <a:tailEnd type="arrow" w="med" len="med"/>
          </a:ln>
        </p:spPr>
      </p:cxnSp>
      <p:cxnSp>
        <p:nvCxnSpPr>
          <p:cNvPr id="45" name="Connector: Elbow 44"/>
          <p:cNvCxnSpPr>
            <a:stCxn id="9" idx="1"/>
            <a:endCxn id="15" idx="3"/>
          </p:cNvCxnSpPr>
          <p:nvPr/>
        </p:nvCxnSpPr>
        <p:spPr>
          <a:xfrm flipH="1">
            <a:off x="3238500" y="2143125"/>
            <a:ext cx="714375" cy="2457450"/>
          </a:xfrm>
          <a:prstGeom prst="bentConnector3">
            <a:avLst>
              <a:gd name="adj1" fmla="val 50000"/>
            </a:avLst>
          </a:prstGeom>
          <a:ln w="23813">
            <a:solidFill>
              <a:srgbClr val="166534"/>
            </a:solidFill>
            <a:prstDash val="solid"/>
            <a:tailEnd type="arrow" w="med" len="med"/>
          </a:ln>
        </p:spPr>
      </p:cxnSp>
      <p:sp>
        <p:nvSpPr>
          <p:cNvPr id="23" name="Rectangle 22">
            <a:extLst>
              <a:ext uri="{FF2B5EF4-FFF2-40B4-BE49-F238E27FC236}">
                <a16:creationId xmlns:a16="http://schemas.microsoft.com/office/drawing/2014/main" id="{CF85DC7D-7CB2-49FB-B30D-B0841E01A512}"/>
              </a:ext>
            </a:extLst>
          </p:cNvPr>
          <p:cNvSpPr>
            <a:spLocks noGrp="1"/>
          </p:cNvSpPr>
          <p:nvPr/>
        </p:nvSpPr>
        <p:spPr>
          <a:xfrm>
            <a:off x="904875" y="5562600"/>
            <a:ext cx="10191750" cy="514350"/>
          </a:xfrm>
          <a:prstGeom prst="rect">
            <a:avLst/>
          </a:prstGeom>
          <a:noFill/>
          <a:ln w="0">
            <a:noFill/>
          </a:ln>
        </p:spPr>
        <p:txBody>
          <a:bodyPr anchor="t">
            <a:normAutofit fontScale="92500"/>
          </a:bodyPr>
          <a:lstStyle/>
          <a:p>
            <a:pPr algn="ctr">
              <a:defRPr sz="1500" b="0" i="0">
                <a:solidFill>
                  <a:srgbClr val="5B6475"/>
                </a:solidFill>
                <a:latin typeface="Arial"/>
                <a:ea typeface="Arial"/>
                <a:cs typeface="Arial"/>
              </a:defRPr>
            </a:pPr>
            <a:r>
              <a:rPr sz="1500" b="0" i="0">
                <a:solidFill>
                  <a:srgbClr val="5B6475"/>
                </a:solidFill>
                <a:latin typeface="Arial"/>
                <a:ea typeface="Arial"/>
                <a:cs typeface="Arial"/>
              </a:rPr>
              <a:t>Composition keeps provider code replaceable in tests. One repository contract supports durable PostgreSQL and fast in-memory execution.</a:t>
            </a:r>
          </a:p>
        </p:txBody>
      </p:sp>
    </p:spTree>
    <p:extLst>
      <p:ext uri="{BB962C8B-B14F-4D97-AF65-F5344CB8AC3E}">
        <p14:creationId xmlns:p14="http://schemas.microsoft.com/office/powerpoint/2010/main" val="1615993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5152D61-650D-4FE7-A9EF-1DCAFC8858EC}"/>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Concurrency and measured performance</a:t>
            </a:r>
          </a:p>
        </p:txBody>
      </p:sp>
      <p:sp>
        <p:nvSpPr>
          <p:cNvPr id="2" name="Straight Connector 1">
            <a:extLst>
              <a:ext uri="{FF2B5EF4-FFF2-40B4-BE49-F238E27FC236}">
                <a16:creationId xmlns:a16="http://schemas.microsoft.com/office/drawing/2014/main" id="{64BB205F-2F43-4E26-AD9E-84F167AA8FF4}"/>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9E09F8DD-2091-4D82-B890-B8F006E615CE}"/>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05</a:t>
            </a:r>
          </a:p>
        </p:txBody>
      </p:sp>
      <p:sp>
        <p:nvSpPr>
          <p:cNvPr id="4" name="Rectangle 3">
            <a:extLst>
              <a:ext uri="{FF2B5EF4-FFF2-40B4-BE49-F238E27FC236}">
                <a16:creationId xmlns:a16="http://schemas.microsoft.com/office/drawing/2014/main" id="{F6437724-A29D-42A8-B4B6-4FF51020E2DB}"/>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93E382A6-6F54-4B9B-A4F4-8597931CB614}"/>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5/10</a:t>
            </a:r>
          </a:p>
        </p:txBody>
      </p:sp>
      <p:graphicFrame>
        <p:nvGraphicFramePr>
          <p:cNvPr id="23" name="Chart"/>
          <p:cNvGraphicFramePr/>
          <p:nvPr/>
        </p:nvGraphicFramePr>
        <p:xfrm>
          <a:off x="666750" y="1428750"/>
          <a:ext cx="64770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B43798CD-EA43-49EC-8C30-CCC936EA2A3A}"/>
              </a:ext>
            </a:extLst>
          </p:cNvPr>
          <p:cNvSpPr>
            <a:spLocks noGrp="1"/>
          </p:cNvSpPr>
          <p:nvPr/>
        </p:nvSpPr>
        <p:spPr>
          <a:xfrm>
            <a:off x="8001000" y="1562100"/>
            <a:ext cx="2857500" cy="742950"/>
          </a:xfrm>
          <a:prstGeom prst="rect">
            <a:avLst/>
          </a:prstGeom>
          <a:noFill/>
          <a:ln w="0">
            <a:noFill/>
          </a:ln>
        </p:spPr>
        <p:txBody>
          <a:bodyPr anchor="t">
            <a:normAutofit/>
          </a:bodyPr>
          <a:lstStyle/>
          <a:p>
            <a:pPr algn="ctr">
              <a:defRPr sz="3900" b="1" i="0">
                <a:solidFill>
                  <a:srgbClr val="166534"/>
                </a:solidFill>
                <a:latin typeface="Arial"/>
                <a:ea typeface="Arial"/>
                <a:cs typeface="Arial"/>
              </a:defRPr>
            </a:pPr>
            <a:r>
              <a:rPr sz="3900" b="1" i="0">
                <a:solidFill>
                  <a:srgbClr val="166534"/>
                </a:solidFill>
                <a:latin typeface="Arial"/>
                <a:ea typeface="Arial"/>
                <a:cs typeface="Arial"/>
              </a:rPr>
              <a:t>2.64×</a:t>
            </a:r>
          </a:p>
        </p:txBody>
      </p:sp>
      <p:sp>
        <p:nvSpPr>
          <p:cNvPr id="8" name="Rectangle 7">
            <a:extLst>
              <a:ext uri="{FF2B5EF4-FFF2-40B4-BE49-F238E27FC236}">
                <a16:creationId xmlns:a16="http://schemas.microsoft.com/office/drawing/2014/main" id="{71C90E21-8A86-499E-AE38-D658D71DBD01}"/>
              </a:ext>
            </a:extLst>
          </p:cNvPr>
          <p:cNvSpPr>
            <a:spLocks noGrp="1"/>
          </p:cNvSpPr>
          <p:nvPr/>
        </p:nvSpPr>
        <p:spPr>
          <a:xfrm>
            <a:off x="8001000" y="2286000"/>
            <a:ext cx="2857500" cy="323850"/>
          </a:xfrm>
          <a:prstGeom prst="rect">
            <a:avLst/>
          </a:prstGeom>
          <a:noFill/>
          <a:ln w="0">
            <a:noFill/>
          </a:ln>
        </p:spPr>
        <p:txBody>
          <a:bodyPr anchor="t">
            <a:normAutofit fontScale="96825"/>
          </a:bodyPr>
          <a:lstStyle/>
          <a:p>
            <a:pPr algn="ctr">
              <a:defRPr sz="1575" b="1" i="0">
                <a:solidFill>
                  <a:srgbClr val="14213D"/>
                </a:solidFill>
                <a:latin typeface="Arial"/>
                <a:ea typeface="Arial"/>
                <a:cs typeface="Arial"/>
              </a:defRPr>
            </a:pPr>
            <a:r>
              <a:rPr sz="1575" b="1" i="0">
                <a:solidFill>
                  <a:srgbClr val="14213D"/>
                </a:solidFill>
                <a:latin typeface="Arial"/>
                <a:ea typeface="Arial"/>
                <a:cs typeface="Arial"/>
              </a:rPr>
              <a:t>median speedup</a:t>
            </a:r>
          </a:p>
        </p:txBody>
      </p:sp>
      <p:sp>
        <p:nvSpPr>
          <p:cNvPr id="9" name="Oval 8">
            <a:extLst>
              <a:ext uri="{FF2B5EF4-FFF2-40B4-BE49-F238E27FC236}">
                <a16:creationId xmlns:a16="http://schemas.microsoft.com/office/drawing/2014/main" id="{93C1BB10-60F3-4219-BA72-C1B2E9C79A70}"/>
              </a:ext>
            </a:extLst>
          </p:cNvPr>
          <p:cNvSpPr>
            <a:spLocks noGrp="1"/>
          </p:cNvSpPr>
          <p:nvPr/>
        </p:nvSpPr>
        <p:spPr>
          <a:xfrm>
            <a:off x="7810500" y="3162300"/>
            <a:ext cx="95250" cy="95250"/>
          </a:xfrm>
          <a:prstGeom prst="ellipse">
            <a:avLst/>
          </a:prstGeom>
          <a:solidFill>
            <a:srgbClr val="0B3D91"/>
          </a:solidFill>
          <a:ln w="0">
            <a:noFill/>
          </a:ln>
        </p:spPr>
        <p:txBody>
          <a:bodyPr/>
          <a:lstStyle/>
          <a:p>
            <a:endParaRPr lang="en-US"/>
          </a:p>
        </p:txBody>
      </p:sp>
      <p:sp>
        <p:nvSpPr>
          <p:cNvPr id="10" name="Rectangle 9">
            <a:extLst>
              <a:ext uri="{FF2B5EF4-FFF2-40B4-BE49-F238E27FC236}">
                <a16:creationId xmlns:a16="http://schemas.microsoft.com/office/drawing/2014/main" id="{A0D1CCDB-2957-4B1E-A588-8D04224A709B}"/>
              </a:ext>
            </a:extLst>
          </p:cNvPr>
          <p:cNvSpPr>
            <a:spLocks noGrp="1"/>
          </p:cNvSpPr>
          <p:nvPr/>
        </p:nvSpPr>
        <p:spPr>
          <a:xfrm>
            <a:off x="8020050" y="3086100"/>
            <a:ext cx="3124200" cy="495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Three live sources</a:t>
            </a:r>
          </a:p>
        </p:txBody>
      </p:sp>
      <p:sp>
        <p:nvSpPr>
          <p:cNvPr id="11" name="Oval 10">
            <a:extLst>
              <a:ext uri="{FF2B5EF4-FFF2-40B4-BE49-F238E27FC236}">
                <a16:creationId xmlns:a16="http://schemas.microsoft.com/office/drawing/2014/main" id="{2EEE86DE-7910-4A00-9070-93DDBAEA935D}"/>
              </a:ext>
            </a:extLst>
          </p:cNvPr>
          <p:cNvSpPr>
            <a:spLocks noGrp="1"/>
          </p:cNvSpPr>
          <p:nvPr/>
        </p:nvSpPr>
        <p:spPr>
          <a:xfrm>
            <a:off x="7810500" y="3676650"/>
            <a:ext cx="95250" cy="95250"/>
          </a:xfrm>
          <a:prstGeom prst="ellipse">
            <a:avLst/>
          </a:prstGeom>
          <a:solidFill>
            <a:srgbClr val="0B3D91"/>
          </a:solidFill>
          <a:ln w="0">
            <a:noFill/>
          </a:ln>
        </p:spPr>
        <p:txBody>
          <a:bodyPr/>
          <a:lstStyle/>
          <a:p>
            <a:endParaRPr lang="en-US"/>
          </a:p>
        </p:txBody>
      </p:sp>
      <p:sp>
        <p:nvSpPr>
          <p:cNvPr id="12" name="Rectangle 11">
            <a:extLst>
              <a:ext uri="{FF2B5EF4-FFF2-40B4-BE49-F238E27FC236}">
                <a16:creationId xmlns:a16="http://schemas.microsoft.com/office/drawing/2014/main" id="{E65DC87F-3C23-4E56-AAE2-10334FC7F585}"/>
              </a:ext>
            </a:extLst>
          </p:cNvPr>
          <p:cNvSpPr>
            <a:spLocks noGrp="1"/>
          </p:cNvSpPr>
          <p:nvPr/>
        </p:nvSpPr>
        <p:spPr>
          <a:xfrm>
            <a:off x="8020050" y="3600450"/>
            <a:ext cx="3124200" cy="495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Same question and machine</a:t>
            </a:r>
          </a:p>
        </p:txBody>
      </p:sp>
      <p:sp>
        <p:nvSpPr>
          <p:cNvPr id="13" name="Oval 12">
            <a:extLst>
              <a:ext uri="{FF2B5EF4-FFF2-40B4-BE49-F238E27FC236}">
                <a16:creationId xmlns:a16="http://schemas.microsoft.com/office/drawing/2014/main" id="{F4C1B9D5-2637-4CB2-96CE-66A16E033896}"/>
              </a:ext>
            </a:extLst>
          </p:cNvPr>
          <p:cNvSpPr>
            <a:spLocks noGrp="1"/>
          </p:cNvSpPr>
          <p:nvPr/>
        </p:nvSpPr>
        <p:spPr>
          <a:xfrm>
            <a:off x="7810500" y="4191000"/>
            <a:ext cx="95250" cy="95250"/>
          </a:xfrm>
          <a:prstGeom prst="ellipse">
            <a:avLst/>
          </a:prstGeom>
          <a:solidFill>
            <a:srgbClr val="0B3D91"/>
          </a:solidFill>
          <a:ln w="0">
            <a:noFill/>
          </a:ln>
        </p:spPr>
        <p:txBody>
          <a:bodyPr/>
          <a:lstStyle/>
          <a:p>
            <a:endParaRPr lang="en-US"/>
          </a:p>
        </p:txBody>
      </p:sp>
      <p:sp>
        <p:nvSpPr>
          <p:cNvPr id="14" name="Rectangle 13">
            <a:extLst>
              <a:ext uri="{FF2B5EF4-FFF2-40B4-BE49-F238E27FC236}">
                <a16:creationId xmlns:a16="http://schemas.microsoft.com/office/drawing/2014/main" id="{0225EB6D-9C47-4A77-BFE3-2571D6DF08D0}"/>
              </a:ext>
            </a:extLst>
          </p:cNvPr>
          <p:cNvSpPr>
            <a:spLocks noGrp="1"/>
          </p:cNvSpPr>
          <p:nvPr/>
        </p:nvSpPr>
        <p:spPr>
          <a:xfrm>
            <a:off x="8020050" y="4114800"/>
            <a:ext cx="3124200" cy="495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Application cache bypassed</a:t>
            </a:r>
          </a:p>
        </p:txBody>
      </p:sp>
      <p:sp>
        <p:nvSpPr>
          <p:cNvPr id="15" name="Oval 14">
            <a:extLst>
              <a:ext uri="{FF2B5EF4-FFF2-40B4-BE49-F238E27FC236}">
                <a16:creationId xmlns:a16="http://schemas.microsoft.com/office/drawing/2014/main" id="{C6E9533B-A363-4DCE-9AFA-5F55C6E5B6C7}"/>
              </a:ext>
            </a:extLst>
          </p:cNvPr>
          <p:cNvSpPr>
            <a:spLocks noGrp="1"/>
          </p:cNvSpPr>
          <p:nvPr/>
        </p:nvSpPr>
        <p:spPr>
          <a:xfrm>
            <a:off x="7810500" y="4705350"/>
            <a:ext cx="95250" cy="95250"/>
          </a:xfrm>
          <a:prstGeom prst="ellipse">
            <a:avLst/>
          </a:prstGeom>
          <a:solidFill>
            <a:srgbClr val="0B3D91"/>
          </a:solidFill>
          <a:ln w="0">
            <a:noFill/>
          </a:ln>
        </p:spPr>
        <p:txBody>
          <a:bodyPr/>
          <a:lstStyle/>
          <a:p>
            <a:endParaRPr lang="en-US"/>
          </a:p>
        </p:txBody>
      </p:sp>
      <p:sp>
        <p:nvSpPr>
          <p:cNvPr id="16" name="Rectangle 15">
            <a:extLst>
              <a:ext uri="{FF2B5EF4-FFF2-40B4-BE49-F238E27FC236}">
                <a16:creationId xmlns:a16="http://schemas.microsoft.com/office/drawing/2014/main" id="{AA42EB94-8D24-489B-AD50-E389F267873A}"/>
              </a:ext>
            </a:extLst>
          </p:cNvPr>
          <p:cNvSpPr>
            <a:spLocks noGrp="1"/>
          </p:cNvSpPr>
          <p:nvPr/>
        </p:nvSpPr>
        <p:spPr>
          <a:xfrm>
            <a:off x="8020050" y="4629150"/>
            <a:ext cx="3314700" cy="495300"/>
          </a:xfrm>
          <a:prstGeom prst="rect">
            <a:avLst/>
          </a:prstGeom>
          <a:noFill/>
          <a:ln w="0">
            <a:noFill/>
          </a:ln>
        </p:spPr>
        <p:txBody>
          <a:bodyPr anchor="t">
            <a:normAutofit fontScale="98148"/>
          </a:bodyPr>
          <a:lstStyle/>
          <a:p>
            <a:pPr algn="l">
              <a:defRPr sz="1350" b="0" i="0">
                <a:solidFill>
                  <a:srgbClr val="14213D"/>
                </a:solidFill>
                <a:latin typeface="Arial"/>
                <a:ea typeface="Arial"/>
                <a:cs typeface="Arial"/>
              </a:defRPr>
            </a:pPr>
            <a:r>
              <a:rPr sz="1350" b="0" i="0">
                <a:solidFill>
                  <a:srgbClr val="14213D"/>
                </a:solidFill>
                <a:latin typeface="Arial"/>
                <a:ea typeface="Arial"/>
                <a:cs typeface="Arial"/>
              </a:rPr>
              <a:t>Retrieval measured separately from synthesis</a:t>
            </a:r>
          </a:p>
        </p:txBody>
      </p:sp>
      <p:sp>
        <p:nvSpPr>
          <p:cNvPr id="17" name="Rectangle 16">
            <a:extLst>
              <a:ext uri="{FF2B5EF4-FFF2-40B4-BE49-F238E27FC236}">
                <a16:creationId xmlns:a16="http://schemas.microsoft.com/office/drawing/2014/main" id="{D8A30D9E-7DF8-4E09-A340-DC90E76D9944}"/>
              </a:ext>
            </a:extLst>
          </p:cNvPr>
          <p:cNvSpPr>
            <a:spLocks noGrp="1"/>
          </p:cNvSpPr>
          <p:nvPr/>
        </p:nvSpPr>
        <p:spPr>
          <a:xfrm>
            <a:off x="876300" y="5553075"/>
            <a:ext cx="10382250" cy="609600"/>
          </a:xfrm>
          <a:prstGeom prst="rect">
            <a:avLst/>
          </a:prstGeom>
          <a:noFill/>
          <a:ln w="0">
            <a:noFill/>
          </a:ln>
        </p:spPr>
        <p:txBody>
          <a:bodyPr anchor="t">
            <a:normAutofit/>
          </a:bodyPr>
          <a:lstStyle/>
          <a:p>
            <a:pPr algn="ctr">
              <a:defRPr sz="1500" b="0" i="0">
                <a:solidFill>
                  <a:srgbClr val="5B6475"/>
                </a:solidFill>
                <a:latin typeface="Arial"/>
                <a:ea typeface="Arial"/>
                <a:cs typeface="Arial"/>
              </a:defRPr>
            </a:pPr>
            <a:r>
              <a:rPr sz="1500" b="0" i="0">
                <a:solidFill>
                  <a:srgbClr val="5B6475"/>
                </a:solidFill>
                <a:latin typeface="Arial"/>
                <a:ea typeface="Arial"/>
                <a:cs typeface="Arial"/>
              </a:rPr>
              <a:t>Why asyncio? Source calls spend most of their time waiting for remote servers. Overlapping that wait reduces wall-clock time without multiprocessing overhead.</a:t>
            </a:r>
          </a:p>
        </p:txBody>
      </p:sp>
    </p:spTree>
    <p:extLst>
      <p:ext uri="{BB962C8B-B14F-4D97-AF65-F5344CB8AC3E}">
        <p14:creationId xmlns:p14="http://schemas.microsoft.com/office/powerpoint/2010/main" val="346155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F72037D-56BC-477D-9B69-1496800647FF}"/>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Reliability and graceful degradation</a:t>
            </a:r>
          </a:p>
        </p:txBody>
      </p:sp>
      <p:sp>
        <p:nvSpPr>
          <p:cNvPr id="2" name="Straight Connector 1">
            <a:extLst>
              <a:ext uri="{FF2B5EF4-FFF2-40B4-BE49-F238E27FC236}">
                <a16:creationId xmlns:a16="http://schemas.microsoft.com/office/drawing/2014/main" id="{E8806EA2-C1F8-42FE-9DA6-85D0109B6E54}"/>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E461B584-E01C-4979-9375-273441EE40E9}"/>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06</a:t>
            </a:r>
          </a:p>
        </p:txBody>
      </p:sp>
      <p:sp>
        <p:nvSpPr>
          <p:cNvPr id="4" name="Rectangle 3">
            <a:extLst>
              <a:ext uri="{FF2B5EF4-FFF2-40B4-BE49-F238E27FC236}">
                <a16:creationId xmlns:a16="http://schemas.microsoft.com/office/drawing/2014/main" id="{27F4A6EC-C288-4F33-A8DC-5DF2F7B7FC80}"/>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63F67F2B-568D-4B48-B7FF-31A92B1CA588}"/>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6/10</a:t>
            </a:r>
          </a:p>
        </p:txBody>
      </p:sp>
      <p:sp>
        <p:nvSpPr>
          <p:cNvPr id="6" name="Rectangle 5">
            <a:extLst>
              <a:ext uri="{FF2B5EF4-FFF2-40B4-BE49-F238E27FC236}">
                <a16:creationId xmlns:a16="http://schemas.microsoft.com/office/drawing/2014/main" id="{3C4FECCA-3D5F-4BC4-B716-05C651C230AE}"/>
              </a:ext>
            </a:extLst>
          </p:cNvPr>
          <p:cNvSpPr>
            <a:spLocks noGrp="1"/>
          </p:cNvSpPr>
          <p:nvPr/>
        </p:nvSpPr>
        <p:spPr>
          <a:xfrm>
            <a:off x="762000" y="1200150"/>
            <a:ext cx="10572750" cy="419100"/>
          </a:xfrm>
          <a:prstGeom prst="rect">
            <a:avLst/>
          </a:prstGeom>
          <a:noFill/>
          <a:ln w="0">
            <a:noFill/>
          </a:ln>
        </p:spPr>
        <p:txBody>
          <a:bodyPr anchor="t">
            <a:normAutofit/>
          </a:bodyPr>
          <a:lstStyle/>
          <a:p>
            <a:pPr algn="ctr">
              <a:defRPr sz="1875" b="1" i="0">
                <a:solidFill>
                  <a:srgbClr val="14213D"/>
                </a:solidFill>
                <a:latin typeface="Arial"/>
                <a:ea typeface="Arial"/>
                <a:cs typeface="Arial"/>
              </a:defRPr>
            </a:pPr>
            <a:r>
              <a:rPr sz="1875" b="1" i="0">
                <a:solidFill>
                  <a:srgbClr val="14213D"/>
                </a:solidFill>
                <a:latin typeface="Arial"/>
                <a:ea typeface="Arial"/>
                <a:cs typeface="Arial"/>
              </a:rPr>
              <a:t>External calls are unreliable; the pipeline makes failures visible and contained</a:t>
            </a:r>
          </a:p>
        </p:txBody>
      </p:sp>
      <p:sp>
        <p:nvSpPr>
          <p:cNvPr id="7" name="Rectangle: Rounded Corners 6">
            <a:extLst>
              <a:ext uri="{FF2B5EF4-FFF2-40B4-BE49-F238E27FC236}">
                <a16:creationId xmlns:a16="http://schemas.microsoft.com/office/drawing/2014/main" id="{D8956C4D-885F-44C0-A27C-19C742E1247C}"/>
              </a:ext>
            </a:extLst>
          </p:cNvPr>
          <p:cNvSpPr>
            <a:spLocks noGrp="1"/>
          </p:cNvSpPr>
          <p:nvPr/>
        </p:nvSpPr>
        <p:spPr>
          <a:xfrm>
            <a:off x="819150" y="2400300"/>
            <a:ext cx="1714500" cy="685800"/>
          </a:xfrm>
          <a:prstGeom prst="roundRect">
            <a:avLst>
              <a:gd name="adj" fmla="val 11111"/>
            </a:avLst>
          </a:prstGeom>
          <a:solidFill>
            <a:srgbClr val="EAF1FB"/>
          </a:solidFill>
          <a:ln w="9525">
            <a:solidFill>
              <a:srgbClr val="0B3D91"/>
            </a:solidFill>
            <a:prstDash val="solid"/>
          </a:ln>
        </p:spPr>
        <p:txBody>
          <a:bodyPr anchor="ctr">
            <a:normAutofit/>
          </a:bodyPr>
          <a:lstStyle/>
          <a:p>
            <a:pPr algn="ctr">
              <a:defRPr sz="1425" b="1">
                <a:solidFill>
                  <a:srgbClr val="0B3D91"/>
                </a:solidFill>
                <a:latin typeface="Arial"/>
                <a:ea typeface="Arial"/>
                <a:cs typeface="Arial"/>
              </a:defRPr>
            </a:pPr>
            <a:r>
              <a:rPr sz="1425" b="1">
                <a:solidFill>
                  <a:srgbClr val="0B3D91"/>
                </a:solidFill>
                <a:latin typeface="Arial"/>
                <a:ea typeface="Arial"/>
                <a:cs typeface="Arial"/>
              </a:rPr>
              <a:t>Source request</a:t>
            </a:r>
          </a:p>
        </p:txBody>
      </p:sp>
      <p:sp>
        <p:nvSpPr>
          <p:cNvPr id="8" name="Rectangle: Rounded Corners 7">
            <a:extLst>
              <a:ext uri="{FF2B5EF4-FFF2-40B4-BE49-F238E27FC236}">
                <a16:creationId xmlns:a16="http://schemas.microsoft.com/office/drawing/2014/main" id="{362DD93A-AA28-4B24-A46A-689A14F3FE95}"/>
              </a:ext>
            </a:extLst>
          </p:cNvPr>
          <p:cNvSpPr>
            <a:spLocks noGrp="1"/>
          </p:cNvSpPr>
          <p:nvPr/>
        </p:nvSpPr>
        <p:spPr>
          <a:xfrm>
            <a:off x="3305175" y="1828800"/>
            <a:ext cx="1619250" cy="590550"/>
          </a:xfrm>
          <a:prstGeom prst="roundRect">
            <a:avLst>
              <a:gd name="adj" fmla="val 12903"/>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Timeout</a:t>
            </a:r>
          </a:p>
        </p:txBody>
      </p:sp>
      <p:sp>
        <p:nvSpPr>
          <p:cNvPr id="9" name="Rectangle: Rounded Corners 8">
            <a:extLst>
              <a:ext uri="{FF2B5EF4-FFF2-40B4-BE49-F238E27FC236}">
                <a16:creationId xmlns:a16="http://schemas.microsoft.com/office/drawing/2014/main" id="{015A4A87-1483-40D6-AA3C-69CFE52F3782}"/>
              </a:ext>
            </a:extLst>
          </p:cNvPr>
          <p:cNvSpPr>
            <a:spLocks noGrp="1"/>
          </p:cNvSpPr>
          <p:nvPr/>
        </p:nvSpPr>
        <p:spPr>
          <a:xfrm>
            <a:off x="3305175" y="3009900"/>
            <a:ext cx="1619250" cy="742950"/>
          </a:xfrm>
          <a:prstGeom prst="roundRect">
            <a:avLst>
              <a:gd name="adj" fmla="val 10256"/>
            </a:avLst>
          </a:prstGeom>
          <a:solidFill>
            <a:srgbClr val="FFFFFF"/>
          </a:solidFill>
          <a:ln w="9525">
            <a:solidFill>
              <a:srgbClr val="0B3D91"/>
            </a:solidFill>
            <a:prstDash val="solid"/>
          </a:ln>
        </p:spPr>
        <p:txBody>
          <a:bodyPr anchor="ctr">
            <a:normAutofit/>
          </a:bodyPr>
          <a:lstStyle/>
          <a:p>
            <a:pPr algn="ctr">
              <a:defRPr sz="1275" b="1">
                <a:solidFill>
                  <a:srgbClr val="14213D"/>
                </a:solidFill>
                <a:latin typeface="Arial"/>
                <a:ea typeface="Arial"/>
                <a:cs typeface="Arial"/>
              </a:defRPr>
            </a:pPr>
            <a:r>
              <a:rPr sz="1275" b="1">
                <a:solidFill>
                  <a:srgbClr val="14213D"/>
                </a:solidFill>
                <a:latin typeface="Arial"/>
                <a:ea typeface="Arial"/>
                <a:cs typeface="Arial"/>
              </a:rPr>
              <a:t>Exponential retry</a:t>
            </a:r>
          </a:p>
          <a:p>
            <a:pPr algn="ctr">
              <a:defRPr sz="1275" b="1">
                <a:solidFill>
                  <a:srgbClr val="14213D"/>
                </a:solidFill>
                <a:latin typeface="Arial"/>
                <a:ea typeface="Arial"/>
                <a:cs typeface="Arial"/>
              </a:defRPr>
            </a:pPr>
            <a:r>
              <a:rPr sz="1275" b="1">
                <a:solidFill>
                  <a:srgbClr val="14213D"/>
                </a:solidFill>
                <a:latin typeface="Arial"/>
                <a:ea typeface="Arial"/>
                <a:cs typeface="Arial"/>
              </a:rPr>
              <a:t>up to 3 attempts</a:t>
            </a:r>
          </a:p>
        </p:txBody>
      </p:sp>
      <p:sp>
        <p:nvSpPr>
          <p:cNvPr id="10" name="Rectangle: Rounded Corners 9">
            <a:extLst>
              <a:ext uri="{FF2B5EF4-FFF2-40B4-BE49-F238E27FC236}">
                <a16:creationId xmlns:a16="http://schemas.microsoft.com/office/drawing/2014/main" id="{9F3EA5DA-B57B-4DF4-889D-C0F9FCE6A4DF}"/>
              </a:ext>
            </a:extLst>
          </p:cNvPr>
          <p:cNvSpPr>
            <a:spLocks noGrp="1"/>
          </p:cNvSpPr>
          <p:nvPr/>
        </p:nvSpPr>
        <p:spPr>
          <a:xfrm>
            <a:off x="5905500" y="1809750"/>
            <a:ext cx="1809750" cy="647700"/>
          </a:xfrm>
          <a:prstGeom prst="roundRect">
            <a:avLst>
              <a:gd name="adj" fmla="val 11765"/>
            </a:avLst>
          </a:prstGeom>
          <a:solidFill>
            <a:srgbClr val="E7F5EB"/>
          </a:solidFill>
          <a:ln w="9525">
            <a:solidFill>
              <a:srgbClr val="166534"/>
            </a:solidFill>
            <a:prstDash val="solid"/>
          </a:ln>
        </p:spPr>
        <p:txBody>
          <a:bodyPr anchor="ctr">
            <a:normAutofit/>
          </a:bodyPr>
          <a:lstStyle/>
          <a:p>
            <a:pPr algn="ctr">
              <a:defRPr sz="1350" b="1">
                <a:solidFill>
                  <a:srgbClr val="166534"/>
                </a:solidFill>
                <a:latin typeface="Arial"/>
                <a:ea typeface="Arial"/>
                <a:cs typeface="Arial"/>
              </a:defRPr>
            </a:pPr>
            <a:r>
              <a:rPr sz="1350" b="1">
                <a:solidFill>
                  <a:srgbClr val="166534"/>
                </a:solidFill>
                <a:latin typeface="Arial"/>
                <a:ea typeface="Arial"/>
                <a:cs typeface="Arial"/>
              </a:rPr>
              <a:t>Usable evidence</a:t>
            </a:r>
          </a:p>
        </p:txBody>
      </p:sp>
      <p:sp>
        <p:nvSpPr>
          <p:cNvPr id="11" name="Rectangle: Rounded Corners 10">
            <a:extLst>
              <a:ext uri="{FF2B5EF4-FFF2-40B4-BE49-F238E27FC236}">
                <a16:creationId xmlns:a16="http://schemas.microsoft.com/office/drawing/2014/main" id="{E350CED6-9AB5-479D-ABFC-D058C67A9A29}"/>
              </a:ext>
            </a:extLst>
          </p:cNvPr>
          <p:cNvSpPr>
            <a:spLocks noGrp="1"/>
          </p:cNvSpPr>
          <p:nvPr/>
        </p:nvSpPr>
        <p:spPr>
          <a:xfrm>
            <a:off x="5905500" y="3143250"/>
            <a:ext cx="1809750" cy="647700"/>
          </a:xfrm>
          <a:prstGeom prst="roundRect">
            <a:avLst>
              <a:gd name="adj" fmla="val 11765"/>
            </a:avLst>
          </a:prstGeom>
          <a:solidFill>
            <a:srgbClr val="FDECEC"/>
          </a:solidFill>
          <a:ln w="9525">
            <a:solidFill>
              <a:srgbClr val="B42318"/>
            </a:solidFill>
            <a:prstDash val="solid"/>
          </a:ln>
        </p:spPr>
        <p:txBody>
          <a:bodyPr anchor="ctr">
            <a:normAutofit/>
          </a:bodyPr>
          <a:lstStyle/>
          <a:p>
            <a:pPr algn="ctr">
              <a:defRPr sz="1350" b="1">
                <a:solidFill>
                  <a:srgbClr val="B42318"/>
                </a:solidFill>
                <a:latin typeface="Arial"/>
                <a:ea typeface="Arial"/>
                <a:cs typeface="Arial"/>
              </a:defRPr>
            </a:pPr>
            <a:r>
              <a:rPr sz="1350" b="1">
                <a:solidFill>
                  <a:srgbClr val="B42318"/>
                </a:solidFill>
                <a:latin typeface="Arial"/>
                <a:ea typeface="Arial"/>
                <a:cs typeface="Arial"/>
              </a:rPr>
              <a:t>Typed warning</a:t>
            </a:r>
          </a:p>
        </p:txBody>
      </p:sp>
      <p:sp>
        <p:nvSpPr>
          <p:cNvPr id="12" name="Rectangle: Rounded Corners 11">
            <a:extLst>
              <a:ext uri="{FF2B5EF4-FFF2-40B4-BE49-F238E27FC236}">
                <a16:creationId xmlns:a16="http://schemas.microsoft.com/office/drawing/2014/main" id="{42C49255-A57B-4479-A417-74A2369900F5}"/>
              </a:ext>
            </a:extLst>
          </p:cNvPr>
          <p:cNvSpPr>
            <a:spLocks noGrp="1"/>
          </p:cNvSpPr>
          <p:nvPr/>
        </p:nvSpPr>
        <p:spPr>
          <a:xfrm>
            <a:off x="8905875" y="2333625"/>
            <a:ext cx="2381250" cy="914400"/>
          </a:xfrm>
          <a:prstGeom prst="roundRect">
            <a:avLst>
              <a:gd name="adj" fmla="val 8333"/>
            </a:avLst>
          </a:prstGeom>
          <a:solidFill>
            <a:srgbClr val="E7F5EB"/>
          </a:solidFill>
          <a:ln w="9525">
            <a:solidFill>
              <a:srgbClr val="166534"/>
            </a:solidFill>
            <a:prstDash val="solid"/>
          </a:ln>
        </p:spPr>
        <p:txBody>
          <a:bodyPr anchor="ctr">
            <a:normAutofit/>
          </a:bodyPr>
          <a:lstStyle/>
          <a:p>
            <a:pPr algn="ctr">
              <a:defRPr sz="1500" b="1">
                <a:solidFill>
                  <a:srgbClr val="14213D"/>
                </a:solidFill>
                <a:latin typeface="Arial"/>
                <a:ea typeface="Arial"/>
                <a:cs typeface="Arial"/>
              </a:defRPr>
            </a:pPr>
            <a:r>
              <a:rPr sz="1500" b="1">
                <a:solidFill>
                  <a:srgbClr val="14213D"/>
                </a:solidFill>
                <a:latin typeface="Arial"/>
                <a:ea typeface="Arial"/>
                <a:cs typeface="Arial"/>
              </a:rPr>
              <a:t>Answer from available sources</a:t>
            </a:r>
          </a:p>
        </p:txBody>
      </p:sp>
      <p:cxnSp>
        <p:nvCxnSpPr>
          <p:cNvPr id="34" name="Connector: Elbow 33"/>
          <p:cNvCxnSpPr>
            <a:stCxn id="7" idx="3"/>
            <a:endCxn id="8" idx="1"/>
          </p:cNvCxnSpPr>
          <p:nvPr/>
        </p:nvCxnSpPr>
        <p:spPr>
          <a:xfrm flipV="1">
            <a:off x="2533650" y="2124075"/>
            <a:ext cx="771525" cy="619125"/>
          </a:xfrm>
          <a:prstGeom prst="bentConnector3">
            <a:avLst>
              <a:gd name="adj1" fmla="val 50000"/>
            </a:avLst>
          </a:prstGeom>
          <a:ln w="23813">
            <a:solidFill>
              <a:srgbClr val="0B3D91"/>
            </a:solidFill>
            <a:prstDash val="solid"/>
            <a:tailEnd type="arrow" w="med" len="med"/>
          </a:ln>
        </p:spPr>
      </p:cxnSp>
      <p:cxnSp>
        <p:nvCxnSpPr>
          <p:cNvPr id="35" name="Straight Arrow Connector 34"/>
          <p:cNvCxnSpPr>
            <a:stCxn id="8" idx="2"/>
            <a:endCxn id="9" idx="0"/>
          </p:cNvCxnSpPr>
          <p:nvPr/>
        </p:nvCxnSpPr>
        <p:spPr>
          <a:xfrm>
            <a:off x="4114800" y="2419350"/>
            <a:ext cx="0" cy="590550"/>
          </a:xfrm>
          <a:prstGeom prst="straightConnector1">
            <a:avLst/>
          </a:prstGeom>
          <a:ln w="23813">
            <a:solidFill>
              <a:srgbClr val="0B3D91"/>
            </a:solidFill>
            <a:prstDash val="solid"/>
            <a:tailEnd type="arrow" w="med" len="med"/>
          </a:ln>
        </p:spPr>
      </p:cxnSp>
      <p:cxnSp>
        <p:nvCxnSpPr>
          <p:cNvPr id="36" name="Connector: Elbow 35"/>
          <p:cNvCxnSpPr>
            <a:stCxn id="9" idx="3"/>
            <a:endCxn id="10" idx="1"/>
          </p:cNvCxnSpPr>
          <p:nvPr/>
        </p:nvCxnSpPr>
        <p:spPr>
          <a:xfrm flipV="1">
            <a:off x="4924425" y="2133600"/>
            <a:ext cx="981075" cy="1247775"/>
          </a:xfrm>
          <a:prstGeom prst="bentConnector3">
            <a:avLst>
              <a:gd name="adj1" fmla="val 50000"/>
            </a:avLst>
          </a:prstGeom>
          <a:ln w="23813">
            <a:solidFill>
              <a:srgbClr val="166534"/>
            </a:solidFill>
            <a:prstDash val="solid"/>
            <a:tailEnd type="arrow" w="med" len="med"/>
          </a:ln>
        </p:spPr>
      </p:cxnSp>
      <p:cxnSp>
        <p:nvCxnSpPr>
          <p:cNvPr id="37" name="Connector: Elbow 36"/>
          <p:cNvCxnSpPr>
            <a:stCxn id="9" idx="3"/>
            <a:endCxn id="11" idx="1"/>
          </p:cNvCxnSpPr>
          <p:nvPr/>
        </p:nvCxnSpPr>
        <p:spPr>
          <a:xfrm>
            <a:off x="4924425" y="3381375"/>
            <a:ext cx="981075" cy="85725"/>
          </a:xfrm>
          <a:prstGeom prst="bentConnector3">
            <a:avLst>
              <a:gd name="adj1" fmla="val 50000"/>
            </a:avLst>
          </a:prstGeom>
          <a:ln w="23813">
            <a:solidFill>
              <a:srgbClr val="B42318"/>
            </a:solidFill>
            <a:prstDash val="solid"/>
            <a:tailEnd type="arrow" w="med" len="med"/>
          </a:ln>
        </p:spPr>
      </p:cxnSp>
      <p:cxnSp>
        <p:nvCxnSpPr>
          <p:cNvPr id="38" name="Connector: Elbow 37"/>
          <p:cNvCxnSpPr>
            <a:stCxn id="10" idx="3"/>
            <a:endCxn id="12" idx="1"/>
          </p:cNvCxnSpPr>
          <p:nvPr/>
        </p:nvCxnSpPr>
        <p:spPr>
          <a:xfrm>
            <a:off x="7715250" y="2133600"/>
            <a:ext cx="1190625" cy="657225"/>
          </a:xfrm>
          <a:prstGeom prst="bentConnector3">
            <a:avLst>
              <a:gd name="adj1" fmla="val 50000"/>
            </a:avLst>
          </a:prstGeom>
          <a:ln w="23813">
            <a:solidFill>
              <a:srgbClr val="166534"/>
            </a:solidFill>
            <a:prstDash val="solid"/>
            <a:tailEnd type="arrow" w="med" len="med"/>
          </a:ln>
        </p:spPr>
      </p:cxnSp>
      <p:cxnSp>
        <p:nvCxnSpPr>
          <p:cNvPr id="39" name="Connector: Elbow 38"/>
          <p:cNvCxnSpPr>
            <a:stCxn id="11" idx="3"/>
            <a:endCxn id="12" idx="1"/>
          </p:cNvCxnSpPr>
          <p:nvPr/>
        </p:nvCxnSpPr>
        <p:spPr>
          <a:xfrm flipV="1">
            <a:off x="7715250" y="2790825"/>
            <a:ext cx="1190625" cy="676275"/>
          </a:xfrm>
          <a:prstGeom prst="bentConnector3">
            <a:avLst>
              <a:gd name="adj1" fmla="val 50000"/>
            </a:avLst>
          </a:prstGeom>
          <a:ln w="23813">
            <a:solidFill>
              <a:srgbClr val="B42318"/>
            </a:solidFill>
            <a:prstDash val="solid"/>
            <a:tailEnd type="arrow" w="med" len="med"/>
          </a:ln>
        </p:spPr>
      </p:cxnSp>
      <p:sp>
        <p:nvSpPr>
          <p:cNvPr id="19" name="Rectangle: Rounded Corners 18">
            <a:extLst>
              <a:ext uri="{FF2B5EF4-FFF2-40B4-BE49-F238E27FC236}">
                <a16:creationId xmlns:a16="http://schemas.microsoft.com/office/drawing/2014/main" id="{E2A84425-6F8D-47C3-B07C-46A5F70CD634}"/>
              </a:ext>
            </a:extLst>
          </p:cNvPr>
          <p:cNvSpPr>
            <a:spLocks noGrp="1"/>
          </p:cNvSpPr>
          <p:nvPr/>
        </p:nvSpPr>
        <p:spPr>
          <a:xfrm>
            <a:off x="876300" y="4686300"/>
            <a:ext cx="10334625" cy="1000125"/>
          </a:xfrm>
          <a:prstGeom prst="roundRect">
            <a:avLst>
              <a:gd name="adj" fmla="val 7619"/>
            </a:avLst>
          </a:prstGeom>
          <a:solidFill>
            <a:srgbClr val="F2F4F8"/>
          </a:solidFill>
          <a:ln w="9525">
            <a:solidFill>
              <a:srgbClr val="D6DCE7"/>
            </a:solidFill>
            <a:prstDash val="solid"/>
          </a:ln>
        </p:spPr>
        <p:txBody>
          <a:bodyPr/>
          <a:lstStyle/>
          <a:p>
            <a:endParaRPr lang="en-US"/>
          </a:p>
        </p:txBody>
      </p:sp>
      <p:sp>
        <p:nvSpPr>
          <p:cNvPr id="20" name="Rectangle 19">
            <a:extLst>
              <a:ext uri="{FF2B5EF4-FFF2-40B4-BE49-F238E27FC236}">
                <a16:creationId xmlns:a16="http://schemas.microsoft.com/office/drawing/2014/main" id="{3B3AC932-4704-4B7A-96E3-2F4E745A804D}"/>
              </a:ext>
            </a:extLst>
          </p:cNvPr>
          <p:cNvSpPr>
            <a:spLocks noGrp="1"/>
          </p:cNvSpPr>
          <p:nvPr/>
        </p:nvSpPr>
        <p:spPr>
          <a:xfrm>
            <a:off x="1104900" y="4914900"/>
            <a:ext cx="2095500" cy="285750"/>
          </a:xfrm>
          <a:prstGeom prst="rect">
            <a:avLst/>
          </a:prstGeom>
          <a:noFill/>
          <a:ln w="0">
            <a:noFill/>
          </a:ln>
        </p:spPr>
        <p:txBody>
          <a:bodyPr anchor="t">
            <a:normAutofit fontScale="80952"/>
          </a:bodyPr>
          <a:lstStyle/>
          <a:p>
            <a:pPr algn="l">
              <a:defRPr sz="1575" b="1" i="0">
                <a:solidFill>
                  <a:srgbClr val="0B3D91"/>
                </a:solidFill>
                <a:latin typeface="Arial"/>
                <a:ea typeface="Arial"/>
                <a:cs typeface="Arial"/>
              </a:defRPr>
            </a:pPr>
            <a:r>
              <a:rPr sz="1575" b="1" i="0">
                <a:solidFill>
                  <a:srgbClr val="0B3D91"/>
                </a:solidFill>
                <a:latin typeface="Arial"/>
                <a:ea typeface="Arial"/>
                <a:cs typeface="Arial"/>
              </a:rPr>
              <a:t>Citation safety</a:t>
            </a:r>
          </a:p>
        </p:txBody>
      </p:sp>
      <p:sp>
        <p:nvSpPr>
          <p:cNvPr id="21" name="Rectangle 20">
            <a:extLst>
              <a:ext uri="{FF2B5EF4-FFF2-40B4-BE49-F238E27FC236}">
                <a16:creationId xmlns:a16="http://schemas.microsoft.com/office/drawing/2014/main" id="{35873E51-A004-4060-A41E-8510B63709DE}"/>
              </a:ext>
            </a:extLst>
          </p:cNvPr>
          <p:cNvSpPr>
            <a:spLocks noGrp="1"/>
          </p:cNvSpPr>
          <p:nvPr/>
        </p:nvSpPr>
        <p:spPr>
          <a:xfrm>
            <a:off x="3238500" y="4857750"/>
            <a:ext cx="7620000" cy="59055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The validator rejects missing, dangling, or mismatched numeric references and retries synthesis with the specific validation error.</a:t>
            </a:r>
          </a:p>
        </p:txBody>
      </p:sp>
    </p:spTree>
    <p:extLst>
      <p:ext uri="{BB962C8B-B14F-4D97-AF65-F5344CB8AC3E}">
        <p14:creationId xmlns:p14="http://schemas.microsoft.com/office/powerpoint/2010/main" val="29318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91C46BB-6020-447D-B478-9BFA9B4B9316}"/>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Storage, caching, and reproducibility</a:t>
            </a:r>
          </a:p>
        </p:txBody>
      </p:sp>
      <p:sp>
        <p:nvSpPr>
          <p:cNvPr id="2" name="Straight Connector 1">
            <a:extLst>
              <a:ext uri="{FF2B5EF4-FFF2-40B4-BE49-F238E27FC236}">
                <a16:creationId xmlns:a16="http://schemas.microsoft.com/office/drawing/2014/main" id="{A1D6A04D-2E65-45C8-AA76-684D67B8A511}"/>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C3F19962-4084-4D7F-B72B-0E8CA9ABC400}"/>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07</a:t>
            </a:r>
          </a:p>
        </p:txBody>
      </p:sp>
      <p:sp>
        <p:nvSpPr>
          <p:cNvPr id="4" name="Rectangle 3">
            <a:extLst>
              <a:ext uri="{FF2B5EF4-FFF2-40B4-BE49-F238E27FC236}">
                <a16:creationId xmlns:a16="http://schemas.microsoft.com/office/drawing/2014/main" id="{7E4DBB34-4FB9-419E-834A-B85FFFC1F2D3}"/>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B684B2FD-62D5-461E-8F18-05C1EC09269F}"/>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7/10</a:t>
            </a:r>
          </a:p>
        </p:txBody>
      </p:sp>
      <p:sp>
        <p:nvSpPr>
          <p:cNvPr id="6" name="Rectangle 5">
            <a:extLst>
              <a:ext uri="{FF2B5EF4-FFF2-40B4-BE49-F238E27FC236}">
                <a16:creationId xmlns:a16="http://schemas.microsoft.com/office/drawing/2014/main" id="{F634E27E-113C-4C24-8A2B-05F842A95D4A}"/>
              </a:ext>
            </a:extLst>
          </p:cNvPr>
          <p:cNvSpPr>
            <a:spLocks noGrp="1"/>
          </p:cNvSpPr>
          <p:nvPr/>
        </p:nvSpPr>
        <p:spPr>
          <a:xfrm>
            <a:off x="704850" y="1200150"/>
            <a:ext cx="6572250" cy="400050"/>
          </a:xfrm>
          <a:prstGeom prst="rect">
            <a:avLst/>
          </a:prstGeom>
          <a:noFill/>
          <a:ln w="0">
            <a:noFill/>
          </a:ln>
        </p:spPr>
        <p:txBody>
          <a:bodyPr anchor="t">
            <a:normAutofit fontScale="95278"/>
          </a:bodyPr>
          <a:lstStyle/>
          <a:p>
            <a:pPr algn="l">
              <a:defRPr sz="1875" b="1" i="0">
                <a:solidFill>
                  <a:srgbClr val="14213D"/>
                </a:solidFill>
                <a:latin typeface="Arial"/>
                <a:ea typeface="Arial"/>
                <a:cs typeface="Arial"/>
              </a:defRPr>
            </a:pPr>
            <a:r>
              <a:rPr sz="1875" b="1" i="0">
                <a:solidFill>
                  <a:srgbClr val="14213D"/>
                </a:solidFill>
                <a:latin typeface="Arial"/>
                <a:ea typeface="Arial"/>
                <a:cs typeface="Arial"/>
              </a:rPr>
              <a:t>PostgreSQL keeps an audit trail for every research session</a:t>
            </a:r>
          </a:p>
        </p:txBody>
      </p:sp>
      <p:sp>
        <p:nvSpPr>
          <p:cNvPr id="7" name="Rectangle: Rounded Corners 6">
            <a:extLst>
              <a:ext uri="{FF2B5EF4-FFF2-40B4-BE49-F238E27FC236}">
                <a16:creationId xmlns:a16="http://schemas.microsoft.com/office/drawing/2014/main" id="{1F133ED0-FBF1-4C3F-8D94-0F0436FEFEC5}"/>
              </a:ext>
            </a:extLst>
          </p:cNvPr>
          <p:cNvSpPr>
            <a:spLocks noGrp="1"/>
          </p:cNvSpPr>
          <p:nvPr/>
        </p:nvSpPr>
        <p:spPr>
          <a:xfrm>
            <a:off x="781050" y="2000250"/>
            <a:ext cx="3333750" cy="857250"/>
          </a:xfrm>
          <a:prstGeom prst="roundRect">
            <a:avLst>
              <a:gd name="adj" fmla="val 8889"/>
            </a:avLst>
          </a:prstGeom>
          <a:solidFill>
            <a:srgbClr val="EAF1FB"/>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research_sessions</a:t>
            </a:r>
          </a:p>
          <a:p>
            <a:pPr algn="ctr">
              <a:defRPr sz="1350" b="1">
                <a:solidFill>
                  <a:srgbClr val="14213D"/>
                </a:solidFill>
                <a:latin typeface="Arial"/>
                <a:ea typeface="Arial"/>
                <a:cs typeface="Arial"/>
              </a:defRPr>
            </a:pPr>
            <a:r>
              <a:rPr sz="1350" b="1">
                <a:solidFill>
                  <a:srgbClr val="14213D"/>
                </a:solidFill>
                <a:latin typeface="Arial"/>
                <a:ea typeface="Arial"/>
                <a:cs typeface="Arial"/>
              </a:rPr>
              <a:t>question · answer · warnings · duration</a:t>
            </a:r>
          </a:p>
        </p:txBody>
      </p:sp>
      <p:sp>
        <p:nvSpPr>
          <p:cNvPr id="8" name="Rectangle: Rounded Corners 7">
            <a:extLst>
              <a:ext uri="{FF2B5EF4-FFF2-40B4-BE49-F238E27FC236}">
                <a16:creationId xmlns:a16="http://schemas.microsoft.com/office/drawing/2014/main" id="{3D87A9F6-874A-42AE-A82D-9DB1B7DD465E}"/>
              </a:ext>
            </a:extLst>
          </p:cNvPr>
          <p:cNvSpPr>
            <a:spLocks noGrp="1"/>
          </p:cNvSpPr>
          <p:nvPr/>
        </p:nvSpPr>
        <p:spPr>
          <a:xfrm>
            <a:off x="781050" y="3219450"/>
            <a:ext cx="3333750" cy="742950"/>
          </a:xfrm>
          <a:prstGeom prst="roundRect">
            <a:avLst>
              <a:gd name="adj" fmla="val 10256"/>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research_sources</a:t>
            </a:r>
          </a:p>
          <a:p>
            <a:pPr algn="ctr">
              <a:defRPr sz="1350" b="1">
                <a:solidFill>
                  <a:srgbClr val="14213D"/>
                </a:solidFill>
                <a:latin typeface="Arial"/>
                <a:ea typeface="Arial"/>
                <a:cs typeface="Arial"/>
              </a:defRPr>
            </a:pPr>
            <a:r>
              <a:rPr sz="1350" b="1">
                <a:solidFill>
                  <a:srgbClr val="14213D"/>
                </a:solidFill>
                <a:latin typeface="Arial"/>
                <a:ea typeface="Arial"/>
                <a:cs typeface="Arial"/>
              </a:rPr>
              <a:t>ordered excerpts and URLs</a:t>
            </a:r>
          </a:p>
        </p:txBody>
      </p:sp>
      <p:sp>
        <p:nvSpPr>
          <p:cNvPr id="9" name="Rectangle: Rounded Corners 8">
            <a:extLst>
              <a:ext uri="{FF2B5EF4-FFF2-40B4-BE49-F238E27FC236}">
                <a16:creationId xmlns:a16="http://schemas.microsoft.com/office/drawing/2014/main" id="{31A7CEE5-0F8D-4E5E-A97A-D2EA0A28974F}"/>
              </a:ext>
            </a:extLst>
          </p:cNvPr>
          <p:cNvSpPr>
            <a:spLocks noGrp="1"/>
          </p:cNvSpPr>
          <p:nvPr/>
        </p:nvSpPr>
        <p:spPr>
          <a:xfrm>
            <a:off x="781050" y="4324350"/>
            <a:ext cx="3333750" cy="742950"/>
          </a:xfrm>
          <a:prstGeom prst="roundRect">
            <a:avLst>
              <a:gd name="adj" fmla="val 10256"/>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source_attempts</a:t>
            </a:r>
          </a:p>
          <a:p>
            <a:pPr algn="ctr">
              <a:defRPr sz="1350" b="1">
                <a:solidFill>
                  <a:srgbClr val="14213D"/>
                </a:solidFill>
                <a:latin typeface="Arial"/>
                <a:ea typeface="Arial"/>
                <a:cs typeface="Arial"/>
              </a:defRPr>
            </a:pPr>
            <a:r>
              <a:rPr sz="1350" b="1">
                <a:solidFill>
                  <a:srgbClr val="14213D"/>
                </a:solidFill>
                <a:latin typeface="Arial"/>
                <a:ea typeface="Arial"/>
                <a:cs typeface="Arial"/>
              </a:rPr>
              <a:t>cache flag · timing · error</a:t>
            </a:r>
          </a:p>
        </p:txBody>
      </p:sp>
      <p:sp>
        <p:nvSpPr>
          <p:cNvPr id="10" name="Rectangle: Rounded Corners 9">
            <a:extLst>
              <a:ext uri="{FF2B5EF4-FFF2-40B4-BE49-F238E27FC236}">
                <a16:creationId xmlns:a16="http://schemas.microsoft.com/office/drawing/2014/main" id="{594ECBB6-3E7C-4A95-8B06-3D1FA196A53D}"/>
              </a:ext>
            </a:extLst>
          </p:cNvPr>
          <p:cNvSpPr>
            <a:spLocks noGrp="1"/>
          </p:cNvSpPr>
          <p:nvPr/>
        </p:nvSpPr>
        <p:spPr>
          <a:xfrm>
            <a:off x="781050" y="5429250"/>
            <a:ext cx="3333750" cy="666750"/>
          </a:xfrm>
          <a:prstGeom prst="roundRect">
            <a:avLst>
              <a:gd name="adj" fmla="val 11429"/>
            </a:avLst>
          </a:prstGeom>
          <a:solidFill>
            <a:srgbClr val="FFFFFF"/>
          </a:solidFill>
          <a:ln w="9525">
            <a:solidFill>
              <a:srgbClr val="0B3D91"/>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citations</a:t>
            </a:r>
          </a:p>
          <a:p>
            <a:pPr algn="ctr">
              <a:defRPr sz="1350" b="1">
                <a:solidFill>
                  <a:srgbClr val="14213D"/>
                </a:solidFill>
                <a:latin typeface="Arial"/>
                <a:ea typeface="Arial"/>
                <a:cs typeface="Arial"/>
              </a:defRPr>
            </a:pPr>
            <a:r>
              <a:rPr sz="1350" b="1">
                <a:solidFill>
                  <a:srgbClr val="14213D"/>
                </a:solidFill>
                <a:latin typeface="Arial"/>
                <a:ea typeface="Arial"/>
                <a:cs typeface="Arial"/>
              </a:rPr>
              <a:t>answer marker mapped to source</a:t>
            </a:r>
          </a:p>
        </p:txBody>
      </p:sp>
      <p:cxnSp>
        <p:nvCxnSpPr>
          <p:cNvPr id="37" name="Straight Arrow Connector 36"/>
          <p:cNvCxnSpPr>
            <a:stCxn id="7" idx="2"/>
            <a:endCxn id="8" idx="0"/>
          </p:cNvCxnSpPr>
          <p:nvPr/>
        </p:nvCxnSpPr>
        <p:spPr>
          <a:xfrm>
            <a:off x="2447925" y="2857500"/>
            <a:ext cx="0" cy="361950"/>
          </a:xfrm>
          <a:prstGeom prst="straightConnector1">
            <a:avLst/>
          </a:prstGeom>
          <a:ln w="23813">
            <a:solidFill>
              <a:srgbClr val="0B3D91"/>
            </a:solidFill>
            <a:prstDash val="solid"/>
            <a:tailEnd type="arrow" w="med" len="med"/>
          </a:ln>
        </p:spPr>
      </p:cxnSp>
      <p:cxnSp>
        <p:nvCxnSpPr>
          <p:cNvPr id="38" name="Straight Arrow Connector 37"/>
          <p:cNvCxnSpPr>
            <a:stCxn id="8" idx="2"/>
            <a:endCxn id="9" idx="0"/>
          </p:cNvCxnSpPr>
          <p:nvPr/>
        </p:nvCxnSpPr>
        <p:spPr>
          <a:xfrm>
            <a:off x="2447925" y="3962400"/>
            <a:ext cx="0" cy="361950"/>
          </a:xfrm>
          <a:prstGeom prst="straightConnector1">
            <a:avLst/>
          </a:prstGeom>
          <a:ln w="23813">
            <a:solidFill>
              <a:srgbClr val="0B3D91"/>
            </a:solidFill>
            <a:prstDash val="solid"/>
            <a:tailEnd type="arrow" w="med" len="med"/>
          </a:ln>
        </p:spPr>
      </p:cxnSp>
      <p:cxnSp>
        <p:nvCxnSpPr>
          <p:cNvPr id="39" name="Straight Arrow Connector 38"/>
          <p:cNvCxnSpPr>
            <a:stCxn id="9" idx="2"/>
            <a:endCxn id="10" idx="0"/>
          </p:cNvCxnSpPr>
          <p:nvPr/>
        </p:nvCxnSpPr>
        <p:spPr>
          <a:xfrm>
            <a:off x="2447925" y="5067300"/>
            <a:ext cx="0" cy="361950"/>
          </a:xfrm>
          <a:prstGeom prst="straightConnector1">
            <a:avLst/>
          </a:prstGeom>
          <a:ln w="23813">
            <a:solidFill>
              <a:srgbClr val="0B3D91"/>
            </a:solidFill>
            <a:prstDash val="solid"/>
            <a:tailEnd type="arrow" w="med" len="med"/>
          </a:ln>
        </p:spPr>
      </p:cxnSp>
      <p:sp>
        <p:nvSpPr>
          <p:cNvPr id="14" name="Rectangle 13">
            <a:extLst>
              <a:ext uri="{FF2B5EF4-FFF2-40B4-BE49-F238E27FC236}">
                <a16:creationId xmlns:a16="http://schemas.microsoft.com/office/drawing/2014/main" id="{7759583D-C117-4C4C-9CD6-DA556FDF86EC}"/>
              </a:ext>
            </a:extLst>
          </p:cNvPr>
          <p:cNvSpPr>
            <a:spLocks noGrp="1"/>
          </p:cNvSpPr>
          <p:nvPr/>
        </p:nvSpPr>
        <p:spPr>
          <a:xfrm>
            <a:off x="6858000" y="1295400"/>
            <a:ext cx="3143250" cy="400050"/>
          </a:xfrm>
          <a:prstGeom prst="rect">
            <a:avLst/>
          </a:prstGeom>
          <a:noFill/>
          <a:ln w="0">
            <a:noFill/>
          </a:ln>
        </p:spPr>
        <p:txBody>
          <a:bodyPr anchor="t">
            <a:normAutofit/>
          </a:bodyPr>
          <a:lstStyle/>
          <a:p>
            <a:pPr algn="ctr">
              <a:defRPr sz="1875" b="1" i="0">
                <a:solidFill>
                  <a:srgbClr val="0B3D91"/>
                </a:solidFill>
                <a:latin typeface="Arial"/>
                <a:ea typeface="Arial"/>
                <a:cs typeface="Arial"/>
              </a:defRPr>
            </a:pPr>
            <a:r>
              <a:rPr sz="1875" b="1" i="0">
                <a:solidFill>
                  <a:srgbClr val="0B3D91"/>
                </a:solidFill>
                <a:latin typeface="Arial"/>
                <a:ea typeface="Arial"/>
                <a:cs typeface="Arial"/>
              </a:rPr>
              <a:t>TTL source cache</a:t>
            </a:r>
          </a:p>
        </p:txBody>
      </p:sp>
      <p:sp>
        <p:nvSpPr>
          <p:cNvPr id="15" name="Rectangle: Rounded Corners 14">
            <a:extLst>
              <a:ext uri="{FF2B5EF4-FFF2-40B4-BE49-F238E27FC236}">
                <a16:creationId xmlns:a16="http://schemas.microsoft.com/office/drawing/2014/main" id="{3C7D9EE5-5497-4133-A821-9D4743D7B0A0}"/>
              </a:ext>
            </a:extLst>
          </p:cNvPr>
          <p:cNvSpPr>
            <a:spLocks noGrp="1"/>
          </p:cNvSpPr>
          <p:nvPr/>
        </p:nvSpPr>
        <p:spPr>
          <a:xfrm>
            <a:off x="5715000" y="2095500"/>
            <a:ext cx="2381250" cy="838200"/>
          </a:xfrm>
          <a:prstGeom prst="roundRect">
            <a:avLst>
              <a:gd name="adj" fmla="val 9091"/>
            </a:avLst>
          </a:prstGeom>
          <a:solidFill>
            <a:srgbClr val="F2F4F8"/>
          </a:solidFill>
          <a:ln w="9525">
            <a:solidFill>
              <a:srgbClr val="D6DCE7"/>
            </a:solidFill>
            <a:prstDash val="solid"/>
          </a:ln>
        </p:spPr>
        <p:txBody>
          <a:bodyPr anchor="ctr">
            <a:normAutofit/>
          </a:bodyPr>
          <a:lstStyle/>
          <a:p>
            <a:pPr algn="ctr">
              <a:defRPr sz="1350" b="1">
                <a:solidFill>
                  <a:srgbClr val="14213D"/>
                </a:solidFill>
                <a:latin typeface="Arial"/>
                <a:ea typeface="Arial"/>
                <a:cs typeface="Arial"/>
              </a:defRPr>
            </a:pPr>
            <a:r>
              <a:rPr sz="1350" b="1">
                <a:solidFill>
                  <a:srgbClr val="14213D"/>
                </a:solidFill>
                <a:latin typeface="Arial"/>
                <a:ea typeface="Arial"/>
                <a:cs typeface="Arial"/>
              </a:rPr>
              <a:t>Key</a:t>
            </a:r>
          </a:p>
          <a:p>
            <a:pPr algn="ctr">
              <a:defRPr sz="1350" b="1">
                <a:solidFill>
                  <a:srgbClr val="14213D"/>
                </a:solidFill>
                <a:latin typeface="Arial"/>
                <a:ea typeface="Arial"/>
                <a:cs typeface="Arial"/>
              </a:defRPr>
            </a:pPr>
            <a:r>
              <a:rPr sz="1350" b="1">
                <a:solidFill>
                  <a:srgbClr val="14213D"/>
                </a:solidFill>
                <a:latin typeface="Arial"/>
                <a:ea typeface="Arial"/>
                <a:cs typeface="Arial"/>
              </a:rPr>
              <a:t>(source, normalized query)</a:t>
            </a:r>
          </a:p>
        </p:txBody>
      </p:sp>
      <p:sp>
        <p:nvSpPr>
          <p:cNvPr id="16" name="Rectangle: Rounded Corners 15">
            <a:extLst>
              <a:ext uri="{FF2B5EF4-FFF2-40B4-BE49-F238E27FC236}">
                <a16:creationId xmlns:a16="http://schemas.microsoft.com/office/drawing/2014/main" id="{E06784D4-73B8-46B2-B09B-7BA7C35B371F}"/>
              </a:ext>
            </a:extLst>
          </p:cNvPr>
          <p:cNvSpPr>
            <a:spLocks noGrp="1"/>
          </p:cNvSpPr>
          <p:nvPr/>
        </p:nvSpPr>
        <p:spPr>
          <a:xfrm>
            <a:off x="8858250" y="2095500"/>
            <a:ext cx="2095500" cy="838200"/>
          </a:xfrm>
          <a:prstGeom prst="roundRect">
            <a:avLst>
              <a:gd name="adj" fmla="val 9091"/>
            </a:avLst>
          </a:prstGeom>
          <a:solidFill>
            <a:srgbClr val="E7F5EB"/>
          </a:solidFill>
          <a:ln w="9525">
            <a:solidFill>
              <a:srgbClr val="166534"/>
            </a:solidFill>
            <a:prstDash val="solid"/>
          </a:ln>
        </p:spPr>
        <p:txBody>
          <a:bodyPr anchor="ctr">
            <a:normAutofit/>
          </a:bodyPr>
          <a:lstStyle/>
          <a:p>
            <a:pPr algn="ctr">
              <a:defRPr sz="1500" b="1">
                <a:solidFill>
                  <a:srgbClr val="166534"/>
                </a:solidFill>
                <a:latin typeface="Arial"/>
                <a:ea typeface="Arial"/>
                <a:cs typeface="Arial"/>
              </a:defRPr>
            </a:pPr>
            <a:r>
              <a:rPr sz="1500" b="1">
                <a:solidFill>
                  <a:srgbClr val="166534"/>
                </a:solidFill>
                <a:latin typeface="Arial"/>
                <a:ea typeface="Arial"/>
                <a:cs typeface="Arial"/>
              </a:rPr>
              <a:t>24-hour expiry</a:t>
            </a:r>
          </a:p>
        </p:txBody>
      </p:sp>
      <p:cxnSp>
        <p:nvCxnSpPr>
          <p:cNvPr id="43" name="Straight Arrow Connector 42"/>
          <p:cNvCxnSpPr>
            <a:stCxn id="15" idx="3"/>
            <a:endCxn id="16" idx="1"/>
          </p:cNvCxnSpPr>
          <p:nvPr/>
        </p:nvCxnSpPr>
        <p:spPr>
          <a:xfrm>
            <a:off x="8096250" y="2514600"/>
            <a:ext cx="762000" cy="0"/>
          </a:xfrm>
          <a:prstGeom prst="straightConnector1">
            <a:avLst/>
          </a:prstGeom>
          <a:ln w="23813">
            <a:solidFill>
              <a:srgbClr val="166534"/>
            </a:solidFill>
            <a:prstDash val="solid"/>
            <a:tailEnd type="arrow" w="med" len="med"/>
          </a:ln>
        </p:spPr>
      </p:cxnSp>
      <p:sp>
        <p:nvSpPr>
          <p:cNvPr id="18" name="Oval 17">
            <a:extLst>
              <a:ext uri="{FF2B5EF4-FFF2-40B4-BE49-F238E27FC236}">
                <a16:creationId xmlns:a16="http://schemas.microsoft.com/office/drawing/2014/main" id="{2B734B7B-DD6C-4671-A7F6-6977321CECD6}"/>
              </a:ext>
            </a:extLst>
          </p:cNvPr>
          <p:cNvSpPr>
            <a:spLocks noGrp="1"/>
          </p:cNvSpPr>
          <p:nvPr/>
        </p:nvSpPr>
        <p:spPr>
          <a:xfrm>
            <a:off x="5810250" y="3505200"/>
            <a:ext cx="95250" cy="95250"/>
          </a:xfrm>
          <a:prstGeom prst="ellipse">
            <a:avLst/>
          </a:prstGeom>
          <a:solidFill>
            <a:srgbClr val="0B3D91"/>
          </a:solidFill>
          <a:ln w="0">
            <a:noFill/>
          </a:ln>
        </p:spPr>
        <p:txBody>
          <a:bodyPr/>
          <a:lstStyle/>
          <a:p>
            <a:endParaRPr lang="en-US"/>
          </a:p>
        </p:txBody>
      </p:sp>
      <p:sp>
        <p:nvSpPr>
          <p:cNvPr id="19" name="Rectangle 18">
            <a:extLst>
              <a:ext uri="{FF2B5EF4-FFF2-40B4-BE49-F238E27FC236}">
                <a16:creationId xmlns:a16="http://schemas.microsoft.com/office/drawing/2014/main" id="{DB550E14-F984-4E4B-9237-7C8703C634A6}"/>
              </a:ext>
            </a:extLst>
          </p:cNvPr>
          <p:cNvSpPr>
            <a:spLocks noGrp="1"/>
          </p:cNvSpPr>
          <p:nvPr/>
        </p:nvSpPr>
        <p:spPr>
          <a:xfrm>
            <a:off x="6019800" y="3429000"/>
            <a:ext cx="4552950" cy="495300"/>
          </a:xfrm>
          <a:prstGeom prst="rect">
            <a:avLst/>
          </a:prstGeom>
          <a:noFill/>
          <a:ln w="0">
            <a:noFill/>
          </a:ln>
        </p:spPr>
        <p:txBody>
          <a:bodyPr anchor="t">
            <a:normAutofit/>
          </a:bodyPr>
          <a:lstStyle/>
          <a:p>
            <a:pPr algn="l">
              <a:defRPr sz="1575" b="0" i="0">
                <a:solidFill>
                  <a:srgbClr val="14213D"/>
                </a:solidFill>
                <a:latin typeface="Arial"/>
                <a:ea typeface="Arial"/>
                <a:cs typeface="Arial"/>
              </a:defRPr>
            </a:pPr>
            <a:r>
              <a:rPr sz="1575" b="0" i="0">
                <a:solidFill>
                  <a:srgbClr val="14213D"/>
                </a:solidFill>
                <a:latin typeface="Arial"/>
                <a:ea typeface="Arial"/>
                <a:cs typeface="Arial"/>
              </a:rPr>
              <a:t>Fast repeated questions</a:t>
            </a:r>
          </a:p>
        </p:txBody>
      </p:sp>
      <p:sp>
        <p:nvSpPr>
          <p:cNvPr id="20" name="Oval 19">
            <a:extLst>
              <a:ext uri="{FF2B5EF4-FFF2-40B4-BE49-F238E27FC236}">
                <a16:creationId xmlns:a16="http://schemas.microsoft.com/office/drawing/2014/main" id="{5373161C-FFA6-485F-A589-56E4C24E4881}"/>
              </a:ext>
            </a:extLst>
          </p:cNvPr>
          <p:cNvSpPr>
            <a:spLocks noGrp="1"/>
          </p:cNvSpPr>
          <p:nvPr/>
        </p:nvSpPr>
        <p:spPr>
          <a:xfrm>
            <a:off x="5810250" y="4038600"/>
            <a:ext cx="95250" cy="95250"/>
          </a:xfrm>
          <a:prstGeom prst="ellipse">
            <a:avLst/>
          </a:prstGeom>
          <a:solidFill>
            <a:srgbClr val="0B3D91"/>
          </a:solidFill>
          <a:ln w="0">
            <a:noFill/>
          </a:ln>
        </p:spPr>
        <p:txBody>
          <a:bodyPr/>
          <a:lstStyle/>
          <a:p>
            <a:endParaRPr lang="en-US"/>
          </a:p>
        </p:txBody>
      </p:sp>
      <p:sp>
        <p:nvSpPr>
          <p:cNvPr id="21" name="Rectangle 20">
            <a:extLst>
              <a:ext uri="{FF2B5EF4-FFF2-40B4-BE49-F238E27FC236}">
                <a16:creationId xmlns:a16="http://schemas.microsoft.com/office/drawing/2014/main" id="{B0E95F93-309C-43A6-BF41-8FBBE33BBC02}"/>
              </a:ext>
            </a:extLst>
          </p:cNvPr>
          <p:cNvSpPr>
            <a:spLocks noGrp="1"/>
          </p:cNvSpPr>
          <p:nvPr/>
        </p:nvSpPr>
        <p:spPr>
          <a:xfrm>
            <a:off x="6019800" y="3962400"/>
            <a:ext cx="4552950" cy="495300"/>
          </a:xfrm>
          <a:prstGeom prst="rect">
            <a:avLst/>
          </a:prstGeom>
          <a:noFill/>
          <a:ln w="0">
            <a:noFill/>
          </a:ln>
        </p:spPr>
        <p:txBody>
          <a:bodyPr anchor="t">
            <a:normAutofit/>
          </a:bodyPr>
          <a:lstStyle/>
          <a:p>
            <a:pPr algn="l">
              <a:defRPr sz="1575" b="0" i="0">
                <a:solidFill>
                  <a:srgbClr val="14213D"/>
                </a:solidFill>
                <a:latin typeface="Arial"/>
                <a:ea typeface="Arial"/>
                <a:cs typeface="Arial"/>
              </a:defRPr>
            </a:pPr>
            <a:r>
              <a:rPr sz="1575" b="0" i="0">
                <a:solidFill>
                  <a:srgbClr val="14213D"/>
                </a:solidFill>
                <a:latin typeface="Arial"/>
                <a:ea typeface="Arial"/>
                <a:cs typeface="Arial"/>
              </a:rPr>
              <a:t>Expired rows removed lazily</a:t>
            </a:r>
          </a:p>
        </p:txBody>
      </p:sp>
      <p:sp>
        <p:nvSpPr>
          <p:cNvPr id="22" name="Oval 21">
            <a:extLst>
              <a:ext uri="{FF2B5EF4-FFF2-40B4-BE49-F238E27FC236}">
                <a16:creationId xmlns:a16="http://schemas.microsoft.com/office/drawing/2014/main" id="{06D1676D-7658-4A31-8B0C-4AC271C384BB}"/>
              </a:ext>
            </a:extLst>
          </p:cNvPr>
          <p:cNvSpPr>
            <a:spLocks noGrp="1"/>
          </p:cNvSpPr>
          <p:nvPr/>
        </p:nvSpPr>
        <p:spPr>
          <a:xfrm>
            <a:off x="5810250" y="4572000"/>
            <a:ext cx="95250" cy="95250"/>
          </a:xfrm>
          <a:prstGeom prst="ellipse">
            <a:avLst/>
          </a:prstGeom>
          <a:solidFill>
            <a:srgbClr val="0B3D91"/>
          </a:solidFill>
          <a:ln w="0">
            <a:noFill/>
          </a:ln>
        </p:spPr>
        <p:txBody>
          <a:bodyPr/>
          <a:lstStyle/>
          <a:p>
            <a:endParaRPr lang="en-US"/>
          </a:p>
        </p:txBody>
      </p:sp>
      <p:sp>
        <p:nvSpPr>
          <p:cNvPr id="23" name="Rectangle 22">
            <a:extLst>
              <a:ext uri="{FF2B5EF4-FFF2-40B4-BE49-F238E27FC236}">
                <a16:creationId xmlns:a16="http://schemas.microsoft.com/office/drawing/2014/main" id="{B85AC1A2-691D-4BA5-AD2E-C33665D77F6C}"/>
              </a:ext>
            </a:extLst>
          </p:cNvPr>
          <p:cNvSpPr>
            <a:spLocks noGrp="1"/>
          </p:cNvSpPr>
          <p:nvPr/>
        </p:nvSpPr>
        <p:spPr>
          <a:xfrm>
            <a:off x="6019800" y="4495800"/>
            <a:ext cx="4743450" cy="495300"/>
          </a:xfrm>
          <a:prstGeom prst="rect">
            <a:avLst/>
          </a:prstGeom>
          <a:noFill/>
          <a:ln w="0">
            <a:noFill/>
          </a:ln>
        </p:spPr>
        <p:txBody>
          <a:bodyPr anchor="t">
            <a:normAutofit/>
          </a:bodyPr>
          <a:lstStyle/>
          <a:p>
            <a:pPr algn="l">
              <a:defRPr sz="1575" b="0" i="0">
                <a:solidFill>
                  <a:srgbClr val="14213D"/>
                </a:solidFill>
                <a:latin typeface="Arial"/>
                <a:ea typeface="Arial"/>
                <a:cs typeface="Arial"/>
              </a:defRPr>
            </a:pPr>
            <a:r>
              <a:rPr sz="1575" b="0" i="0">
                <a:solidFill>
                  <a:srgbClr val="14213D"/>
                </a:solidFill>
                <a:latin typeface="Arial"/>
                <a:ea typeface="Arial"/>
                <a:cs typeface="Arial"/>
              </a:rPr>
              <a:t>Bypass cache for fresh demonstrations</a:t>
            </a:r>
          </a:p>
        </p:txBody>
      </p:sp>
      <p:sp>
        <p:nvSpPr>
          <p:cNvPr id="24" name="Oval 23">
            <a:extLst>
              <a:ext uri="{FF2B5EF4-FFF2-40B4-BE49-F238E27FC236}">
                <a16:creationId xmlns:a16="http://schemas.microsoft.com/office/drawing/2014/main" id="{A7CE1061-5EC0-47DA-B82D-3F7AF244D3D7}"/>
              </a:ext>
            </a:extLst>
          </p:cNvPr>
          <p:cNvSpPr>
            <a:spLocks noGrp="1"/>
          </p:cNvSpPr>
          <p:nvPr/>
        </p:nvSpPr>
        <p:spPr>
          <a:xfrm>
            <a:off x="5810250" y="5105400"/>
            <a:ext cx="95250" cy="95250"/>
          </a:xfrm>
          <a:prstGeom prst="ellipse">
            <a:avLst/>
          </a:prstGeom>
          <a:solidFill>
            <a:srgbClr val="0B3D91"/>
          </a:solidFill>
          <a:ln w="0">
            <a:noFill/>
          </a:ln>
        </p:spPr>
        <p:txBody>
          <a:bodyPr/>
          <a:lstStyle/>
          <a:p>
            <a:endParaRPr lang="en-US"/>
          </a:p>
        </p:txBody>
      </p:sp>
      <p:sp>
        <p:nvSpPr>
          <p:cNvPr id="25" name="Rectangle 24">
            <a:extLst>
              <a:ext uri="{FF2B5EF4-FFF2-40B4-BE49-F238E27FC236}">
                <a16:creationId xmlns:a16="http://schemas.microsoft.com/office/drawing/2014/main" id="{D13788E0-5C97-40F6-BCE8-06364A11F8BD}"/>
              </a:ext>
            </a:extLst>
          </p:cNvPr>
          <p:cNvSpPr>
            <a:spLocks noGrp="1"/>
          </p:cNvSpPr>
          <p:nvPr/>
        </p:nvSpPr>
        <p:spPr>
          <a:xfrm>
            <a:off x="6019800" y="5029200"/>
            <a:ext cx="4743450" cy="495300"/>
          </a:xfrm>
          <a:prstGeom prst="rect">
            <a:avLst/>
          </a:prstGeom>
          <a:noFill/>
          <a:ln w="0">
            <a:noFill/>
          </a:ln>
        </p:spPr>
        <p:txBody>
          <a:bodyPr anchor="t">
            <a:normAutofit/>
          </a:bodyPr>
          <a:lstStyle/>
          <a:p>
            <a:pPr algn="l">
              <a:defRPr sz="1575" b="0" i="0">
                <a:solidFill>
                  <a:srgbClr val="14213D"/>
                </a:solidFill>
                <a:latin typeface="Arial"/>
                <a:ea typeface="Arial"/>
                <a:cs typeface="Arial"/>
              </a:defRPr>
            </a:pPr>
            <a:r>
              <a:rPr sz="1575" b="0" i="0">
                <a:solidFill>
                  <a:srgbClr val="14213D"/>
                </a:solidFill>
                <a:latin typeface="Arial"/>
                <a:ea typeface="Arial"/>
                <a:cs typeface="Arial"/>
              </a:rPr>
              <a:t>Memory repository for offline tests</a:t>
            </a:r>
          </a:p>
        </p:txBody>
      </p:sp>
      <p:sp>
        <p:nvSpPr>
          <p:cNvPr id="26" name="Rectangle 25">
            <a:extLst>
              <a:ext uri="{FF2B5EF4-FFF2-40B4-BE49-F238E27FC236}">
                <a16:creationId xmlns:a16="http://schemas.microsoft.com/office/drawing/2014/main" id="{78CA9FD1-8DC6-42DC-B88E-CF75C954F9CF}"/>
              </a:ext>
            </a:extLst>
          </p:cNvPr>
          <p:cNvSpPr>
            <a:spLocks noGrp="1"/>
          </p:cNvSpPr>
          <p:nvPr/>
        </p:nvSpPr>
        <p:spPr>
          <a:xfrm>
            <a:off x="5810250" y="5695950"/>
            <a:ext cx="5095875" cy="400050"/>
          </a:xfrm>
          <a:prstGeom prst="rect">
            <a:avLst/>
          </a:prstGeom>
          <a:noFill/>
          <a:ln w="0">
            <a:noFill/>
          </a:ln>
        </p:spPr>
        <p:txBody>
          <a:bodyPr anchor="t">
            <a:normAutofit fontScale="75000"/>
          </a:bodyPr>
          <a:lstStyle/>
          <a:p>
            <a:pPr algn="l">
              <a:defRPr sz="1350" b="0" i="0">
                <a:solidFill>
                  <a:srgbClr val="5B6475"/>
                </a:solidFill>
                <a:latin typeface="Arial"/>
                <a:ea typeface="Arial"/>
                <a:cs typeface="Arial"/>
              </a:defRPr>
            </a:pPr>
            <a:r>
              <a:rPr sz="1350" b="0" i="0">
                <a:solidFill>
                  <a:srgbClr val="5B6475"/>
                </a:solidFill>
                <a:latin typeface="Arial"/>
                <a:ea typeface="Arial"/>
                <a:cs typeface="Arial"/>
              </a:rPr>
              <a:t>Docker Compose starts the application and PostgreSQL with a database health check.</a:t>
            </a:r>
          </a:p>
        </p:txBody>
      </p:sp>
    </p:spTree>
    <p:extLst>
      <p:ext uri="{BB962C8B-B14F-4D97-AF65-F5344CB8AC3E}">
        <p14:creationId xmlns:p14="http://schemas.microsoft.com/office/powerpoint/2010/main" val="1129991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CD4B346-19DD-4466-83BC-455C27DAA8D7}"/>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Project-day interface and live demo</a:t>
            </a:r>
          </a:p>
        </p:txBody>
      </p:sp>
      <p:sp>
        <p:nvSpPr>
          <p:cNvPr id="2" name="Straight Connector 1">
            <a:extLst>
              <a:ext uri="{FF2B5EF4-FFF2-40B4-BE49-F238E27FC236}">
                <a16:creationId xmlns:a16="http://schemas.microsoft.com/office/drawing/2014/main" id="{58EFA853-6BB8-4B1E-96E1-65E49096A65F}"/>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407F7804-FB74-4143-B6AE-2ED97DBE2CB3}"/>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08</a:t>
            </a:r>
          </a:p>
        </p:txBody>
      </p:sp>
      <p:sp>
        <p:nvSpPr>
          <p:cNvPr id="4" name="Rectangle 3">
            <a:extLst>
              <a:ext uri="{FF2B5EF4-FFF2-40B4-BE49-F238E27FC236}">
                <a16:creationId xmlns:a16="http://schemas.microsoft.com/office/drawing/2014/main" id="{79AB7B56-618B-42AB-894E-4A915B0AC0C2}"/>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AF2A61CA-21D8-4E32-8A3F-6F9D90FEBAAC}"/>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dirty="0">
                <a:solidFill>
                  <a:srgbClr val="5B6475"/>
                </a:solidFill>
                <a:latin typeface="Arial"/>
                <a:ea typeface="Arial"/>
                <a:cs typeface="Arial"/>
              </a:rPr>
              <a:t>M301</a:t>
            </a:r>
            <a:r>
              <a:rPr sz="900" b="0" i="0" dirty="0">
                <a:solidFill>
                  <a:srgbClr val="5B6475"/>
                </a:solidFill>
                <a:latin typeface="Arial"/>
                <a:ea typeface="Arial"/>
                <a:cs typeface="Arial"/>
              </a:rPr>
              <a:t>  •  Spring 2026  •  8/10</a:t>
            </a:r>
          </a:p>
        </p:txBody>
      </p:sp>
      <p:pic>
        <p:nvPicPr>
          <p:cNvPr id="22" name="Picture 21"/>
          <p:cNvPicPr>
            <a:picLocks noChangeAspect="1"/>
          </p:cNvPicPr>
          <p:nvPr/>
        </p:nvPicPr>
        <p:blipFill>
          <a:blip r:embed="rId3"/>
          <a:stretch/>
        </p:blipFill>
        <p:spPr>
          <a:xfrm>
            <a:off x="552450" y="1239738"/>
            <a:ext cx="7953375" cy="4473773"/>
          </a:xfrm>
          <a:prstGeom prst="roundRect">
            <a:avLst>
              <a:gd name="adj" fmla="val 2553"/>
            </a:avLst>
          </a:prstGeom>
        </p:spPr>
      </p:pic>
      <p:sp>
        <p:nvSpPr>
          <p:cNvPr id="7" name="Rectangle 6">
            <a:extLst>
              <a:ext uri="{FF2B5EF4-FFF2-40B4-BE49-F238E27FC236}">
                <a16:creationId xmlns:a16="http://schemas.microsoft.com/office/drawing/2014/main" id="{D836237A-5AB4-4E67-9B41-2790BB91D63A}"/>
              </a:ext>
            </a:extLst>
          </p:cNvPr>
          <p:cNvSpPr>
            <a:spLocks noGrp="1"/>
          </p:cNvSpPr>
          <p:nvPr/>
        </p:nvSpPr>
        <p:spPr>
          <a:xfrm>
            <a:off x="9010650" y="1428750"/>
            <a:ext cx="2190750" cy="342900"/>
          </a:xfrm>
          <a:prstGeom prst="rect">
            <a:avLst/>
          </a:prstGeom>
          <a:noFill/>
          <a:ln w="0">
            <a:noFill/>
          </a:ln>
        </p:spPr>
        <p:txBody>
          <a:bodyPr anchor="t">
            <a:normAutofit fontScale="91667"/>
          </a:bodyPr>
          <a:lstStyle/>
          <a:p>
            <a:pPr algn="l">
              <a:defRPr sz="1800" b="1" i="0">
                <a:solidFill>
                  <a:srgbClr val="0B3D91"/>
                </a:solidFill>
                <a:latin typeface="Arial"/>
                <a:ea typeface="Arial"/>
                <a:cs typeface="Arial"/>
              </a:defRPr>
            </a:pPr>
            <a:r>
              <a:rPr sz="1800" b="1" i="0">
                <a:solidFill>
                  <a:srgbClr val="0B3D91"/>
                </a:solidFill>
                <a:latin typeface="Arial"/>
                <a:ea typeface="Arial"/>
                <a:cs typeface="Arial"/>
              </a:rPr>
              <a:t>Demo plan</a:t>
            </a:r>
          </a:p>
        </p:txBody>
      </p:sp>
      <p:sp>
        <p:nvSpPr>
          <p:cNvPr id="8" name="Rectangle 7">
            <a:extLst>
              <a:ext uri="{FF2B5EF4-FFF2-40B4-BE49-F238E27FC236}">
                <a16:creationId xmlns:a16="http://schemas.microsoft.com/office/drawing/2014/main" id="{739E536C-AF2A-49C8-B1DA-548CEF3E8714}"/>
              </a:ext>
            </a:extLst>
          </p:cNvPr>
          <p:cNvSpPr>
            <a:spLocks noGrp="1"/>
          </p:cNvSpPr>
          <p:nvPr/>
        </p:nvSpPr>
        <p:spPr>
          <a:xfrm>
            <a:off x="9010650" y="2076450"/>
            <a:ext cx="333375" cy="333375"/>
          </a:xfrm>
          <a:prstGeom prst="rect">
            <a:avLst/>
          </a:prstGeom>
          <a:noFill/>
          <a:ln w="0">
            <a:noFill/>
          </a:ln>
        </p:spPr>
        <p:txBody>
          <a:bodyPr anchor="t">
            <a:normAutofit fontScale="88194"/>
          </a:bodyPr>
          <a:lstStyle/>
          <a:p>
            <a:pPr algn="l">
              <a:defRPr sz="1800" b="1" i="0">
                <a:solidFill>
                  <a:srgbClr val="0B3D91"/>
                </a:solidFill>
                <a:latin typeface="Arial"/>
                <a:ea typeface="Arial"/>
                <a:cs typeface="Arial"/>
              </a:defRPr>
            </a:pPr>
            <a:r>
              <a:rPr sz="1800" b="1" i="0">
                <a:solidFill>
                  <a:srgbClr val="0B3D91"/>
                </a:solidFill>
                <a:latin typeface="Arial"/>
                <a:ea typeface="Arial"/>
                <a:cs typeface="Arial"/>
              </a:rPr>
              <a:t>1</a:t>
            </a:r>
          </a:p>
        </p:txBody>
      </p:sp>
      <p:sp>
        <p:nvSpPr>
          <p:cNvPr id="9" name="Rectangle 8">
            <a:extLst>
              <a:ext uri="{FF2B5EF4-FFF2-40B4-BE49-F238E27FC236}">
                <a16:creationId xmlns:a16="http://schemas.microsoft.com/office/drawing/2014/main" id="{EA04B3AA-2A19-4D4A-A7AC-38FBB823BB3C}"/>
              </a:ext>
            </a:extLst>
          </p:cNvPr>
          <p:cNvSpPr>
            <a:spLocks noGrp="1"/>
          </p:cNvSpPr>
          <p:nvPr/>
        </p:nvSpPr>
        <p:spPr>
          <a:xfrm>
            <a:off x="9410700" y="2047875"/>
            <a:ext cx="2095500" cy="552450"/>
          </a:xfrm>
          <a:prstGeom prst="rect">
            <a:avLst/>
          </a:prstGeom>
          <a:noFill/>
          <a:ln w="0">
            <a:noFill/>
          </a:ln>
        </p:spPr>
        <p:txBody>
          <a:bodyPr anchor="t">
            <a:normAutofit/>
          </a:bodyPr>
          <a:lstStyle/>
          <a:p>
            <a:pPr algn="l">
              <a:defRPr sz="1425" b="1" i="0">
                <a:solidFill>
                  <a:srgbClr val="14213D"/>
                </a:solidFill>
                <a:latin typeface="Arial"/>
                <a:ea typeface="Arial"/>
                <a:cs typeface="Arial"/>
              </a:defRPr>
            </a:pPr>
            <a:r>
              <a:rPr sz="1425" b="1" i="0">
                <a:solidFill>
                  <a:srgbClr val="14213D"/>
                </a:solidFill>
                <a:latin typeface="Arial"/>
                <a:ea typeface="Arial"/>
                <a:cs typeface="Arial"/>
              </a:rPr>
              <a:t>Ask one current research question</a:t>
            </a:r>
          </a:p>
        </p:txBody>
      </p:sp>
      <p:sp>
        <p:nvSpPr>
          <p:cNvPr id="10" name="Rectangle 9">
            <a:extLst>
              <a:ext uri="{FF2B5EF4-FFF2-40B4-BE49-F238E27FC236}">
                <a16:creationId xmlns:a16="http://schemas.microsoft.com/office/drawing/2014/main" id="{C8CB63F1-F99E-4FCA-90EC-317D75AB0C71}"/>
              </a:ext>
            </a:extLst>
          </p:cNvPr>
          <p:cNvSpPr>
            <a:spLocks noGrp="1"/>
          </p:cNvSpPr>
          <p:nvPr/>
        </p:nvSpPr>
        <p:spPr>
          <a:xfrm>
            <a:off x="9010650" y="2952750"/>
            <a:ext cx="333375" cy="333375"/>
          </a:xfrm>
          <a:prstGeom prst="rect">
            <a:avLst/>
          </a:prstGeom>
          <a:noFill/>
          <a:ln w="0">
            <a:noFill/>
          </a:ln>
        </p:spPr>
        <p:txBody>
          <a:bodyPr anchor="t">
            <a:normAutofit fontScale="88194"/>
          </a:bodyPr>
          <a:lstStyle/>
          <a:p>
            <a:pPr algn="l">
              <a:defRPr sz="1800" b="1" i="0">
                <a:solidFill>
                  <a:srgbClr val="0B3D91"/>
                </a:solidFill>
                <a:latin typeface="Arial"/>
                <a:ea typeface="Arial"/>
                <a:cs typeface="Arial"/>
              </a:defRPr>
            </a:pPr>
            <a:r>
              <a:rPr sz="1800" b="1" i="0">
                <a:solidFill>
                  <a:srgbClr val="0B3D91"/>
                </a:solidFill>
                <a:latin typeface="Arial"/>
                <a:ea typeface="Arial"/>
                <a:cs typeface="Arial"/>
              </a:rPr>
              <a:t>2</a:t>
            </a:r>
          </a:p>
        </p:txBody>
      </p:sp>
      <p:sp>
        <p:nvSpPr>
          <p:cNvPr id="11" name="Rectangle 10">
            <a:extLst>
              <a:ext uri="{FF2B5EF4-FFF2-40B4-BE49-F238E27FC236}">
                <a16:creationId xmlns:a16="http://schemas.microsoft.com/office/drawing/2014/main" id="{E5AEC4E7-A4FC-4BCD-9068-884F77D2C973}"/>
              </a:ext>
            </a:extLst>
          </p:cNvPr>
          <p:cNvSpPr>
            <a:spLocks noGrp="1"/>
          </p:cNvSpPr>
          <p:nvPr/>
        </p:nvSpPr>
        <p:spPr>
          <a:xfrm>
            <a:off x="9410700" y="2914650"/>
            <a:ext cx="2095500" cy="552450"/>
          </a:xfrm>
          <a:prstGeom prst="rect">
            <a:avLst/>
          </a:prstGeom>
          <a:noFill/>
          <a:ln w="0">
            <a:noFill/>
          </a:ln>
        </p:spPr>
        <p:txBody>
          <a:bodyPr anchor="t">
            <a:normAutofit/>
          </a:bodyPr>
          <a:lstStyle/>
          <a:p>
            <a:pPr algn="l">
              <a:defRPr sz="1425" b="1" i="0">
                <a:solidFill>
                  <a:srgbClr val="14213D"/>
                </a:solidFill>
                <a:latin typeface="Arial"/>
                <a:ea typeface="Arial"/>
                <a:cs typeface="Arial"/>
              </a:defRPr>
            </a:pPr>
            <a:r>
              <a:rPr sz="1425" b="1" i="0">
                <a:solidFill>
                  <a:srgbClr val="14213D"/>
                </a:solidFill>
                <a:latin typeface="Arial"/>
                <a:ea typeface="Arial"/>
                <a:cs typeface="Arial"/>
              </a:rPr>
              <a:t>Show three sources starting together</a:t>
            </a:r>
          </a:p>
        </p:txBody>
      </p:sp>
      <p:sp>
        <p:nvSpPr>
          <p:cNvPr id="12" name="Rectangle 11">
            <a:extLst>
              <a:ext uri="{FF2B5EF4-FFF2-40B4-BE49-F238E27FC236}">
                <a16:creationId xmlns:a16="http://schemas.microsoft.com/office/drawing/2014/main" id="{E190B55F-D059-4729-830C-905DB65670E9}"/>
              </a:ext>
            </a:extLst>
          </p:cNvPr>
          <p:cNvSpPr>
            <a:spLocks noGrp="1"/>
          </p:cNvSpPr>
          <p:nvPr/>
        </p:nvSpPr>
        <p:spPr>
          <a:xfrm>
            <a:off x="9010650" y="3829050"/>
            <a:ext cx="333375" cy="333375"/>
          </a:xfrm>
          <a:prstGeom prst="rect">
            <a:avLst/>
          </a:prstGeom>
          <a:noFill/>
          <a:ln w="0">
            <a:noFill/>
          </a:ln>
        </p:spPr>
        <p:txBody>
          <a:bodyPr anchor="t">
            <a:normAutofit fontScale="88194"/>
          </a:bodyPr>
          <a:lstStyle/>
          <a:p>
            <a:pPr algn="l">
              <a:defRPr sz="1800" b="1" i="0">
                <a:solidFill>
                  <a:srgbClr val="0B3D91"/>
                </a:solidFill>
                <a:latin typeface="Arial"/>
                <a:ea typeface="Arial"/>
                <a:cs typeface="Arial"/>
              </a:defRPr>
            </a:pPr>
            <a:r>
              <a:rPr sz="1800" b="1" i="0">
                <a:solidFill>
                  <a:srgbClr val="0B3D91"/>
                </a:solidFill>
                <a:latin typeface="Arial"/>
                <a:ea typeface="Arial"/>
                <a:cs typeface="Arial"/>
              </a:rPr>
              <a:t>3</a:t>
            </a:r>
          </a:p>
        </p:txBody>
      </p:sp>
      <p:sp>
        <p:nvSpPr>
          <p:cNvPr id="13" name="Rectangle 12">
            <a:extLst>
              <a:ext uri="{FF2B5EF4-FFF2-40B4-BE49-F238E27FC236}">
                <a16:creationId xmlns:a16="http://schemas.microsoft.com/office/drawing/2014/main" id="{06F34ED3-2D43-45F0-A9D2-FB31C28106BA}"/>
              </a:ext>
            </a:extLst>
          </p:cNvPr>
          <p:cNvSpPr>
            <a:spLocks noGrp="1"/>
          </p:cNvSpPr>
          <p:nvPr/>
        </p:nvSpPr>
        <p:spPr>
          <a:xfrm>
            <a:off x="9410700" y="3790950"/>
            <a:ext cx="2095500" cy="609600"/>
          </a:xfrm>
          <a:prstGeom prst="rect">
            <a:avLst/>
          </a:prstGeom>
          <a:noFill/>
          <a:ln w="0">
            <a:noFill/>
          </a:ln>
        </p:spPr>
        <p:txBody>
          <a:bodyPr anchor="t">
            <a:normAutofit/>
          </a:bodyPr>
          <a:lstStyle/>
          <a:p>
            <a:pPr algn="l">
              <a:defRPr sz="1425" b="1" i="0">
                <a:solidFill>
                  <a:srgbClr val="14213D"/>
                </a:solidFill>
                <a:latin typeface="Arial"/>
                <a:ea typeface="Arial"/>
                <a:cs typeface="Arial"/>
              </a:defRPr>
            </a:pPr>
            <a:r>
              <a:rPr sz="1425" b="1" i="0">
                <a:solidFill>
                  <a:srgbClr val="14213D"/>
                </a:solidFill>
                <a:latin typeface="Arial"/>
                <a:ea typeface="Arial"/>
                <a:cs typeface="Arial"/>
              </a:rPr>
              <a:t>Match inline markers to reference links</a:t>
            </a:r>
          </a:p>
        </p:txBody>
      </p:sp>
      <p:sp>
        <p:nvSpPr>
          <p:cNvPr id="14" name="Rectangle 13">
            <a:extLst>
              <a:ext uri="{FF2B5EF4-FFF2-40B4-BE49-F238E27FC236}">
                <a16:creationId xmlns:a16="http://schemas.microsoft.com/office/drawing/2014/main" id="{B3E40BA4-8904-4FA5-9706-B834B8B306E8}"/>
              </a:ext>
            </a:extLst>
          </p:cNvPr>
          <p:cNvSpPr>
            <a:spLocks noGrp="1"/>
          </p:cNvSpPr>
          <p:nvPr/>
        </p:nvSpPr>
        <p:spPr>
          <a:xfrm>
            <a:off x="9010650" y="4762500"/>
            <a:ext cx="333375" cy="333375"/>
          </a:xfrm>
          <a:prstGeom prst="rect">
            <a:avLst/>
          </a:prstGeom>
          <a:noFill/>
          <a:ln w="0">
            <a:noFill/>
          </a:ln>
        </p:spPr>
        <p:txBody>
          <a:bodyPr anchor="t">
            <a:normAutofit fontScale="88194"/>
          </a:bodyPr>
          <a:lstStyle/>
          <a:p>
            <a:pPr algn="l">
              <a:defRPr sz="1800" b="1" i="0">
                <a:solidFill>
                  <a:srgbClr val="0B3D91"/>
                </a:solidFill>
                <a:latin typeface="Arial"/>
                <a:ea typeface="Arial"/>
                <a:cs typeface="Arial"/>
              </a:defRPr>
            </a:pPr>
            <a:r>
              <a:rPr sz="1800" b="1" i="0">
                <a:solidFill>
                  <a:srgbClr val="0B3D91"/>
                </a:solidFill>
                <a:latin typeface="Arial"/>
                <a:ea typeface="Arial"/>
                <a:cs typeface="Arial"/>
              </a:rPr>
              <a:t>4</a:t>
            </a:r>
          </a:p>
        </p:txBody>
      </p:sp>
      <p:sp>
        <p:nvSpPr>
          <p:cNvPr id="15" name="Rectangle 14">
            <a:extLst>
              <a:ext uri="{FF2B5EF4-FFF2-40B4-BE49-F238E27FC236}">
                <a16:creationId xmlns:a16="http://schemas.microsoft.com/office/drawing/2014/main" id="{C1CF63E9-0E07-4870-92D4-432A625E3E51}"/>
              </a:ext>
            </a:extLst>
          </p:cNvPr>
          <p:cNvSpPr>
            <a:spLocks noGrp="1"/>
          </p:cNvSpPr>
          <p:nvPr/>
        </p:nvSpPr>
        <p:spPr>
          <a:xfrm>
            <a:off x="9410700" y="4724400"/>
            <a:ext cx="2095500" cy="552450"/>
          </a:xfrm>
          <a:prstGeom prst="rect">
            <a:avLst/>
          </a:prstGeom>
          <a:noFill/>
          <a:ln w="0">
            <a:noFill/>
          </a:ln>
        </p:spPr>
        <p:txBody>
          <a:bodyPr anchor="t">
            <a:normAutofit/>
          </a:bodyPr>
          <a:lstStyle/>
          <a:p>
            <a:pPr algn="l">
              <a:defRPr sz="1425" b="1" i="0">
                <a:solidFill>
                  <a:srgbClr val="14213D"/>
                </a:solidFill>
                <a:latin typeface="Arial"/>
                <a:ea typeface="Arial"/>
                <a:cs typeface="Arial"/>
              </a:defRPr>
            </a:pPr>
            <a:r>
              <a:rPr sz="1425" b="1" i="0">
                <a:solidFill>
                  <a:srgbClr val="14213D"/>
                </a:solidFill>
                <a:latin typeface="Arial"/>
                <a:ea typeface="Arial"/>
                <a:cs typeface="Arial"/>
              </a:rPr>
              <a:t>Point out timing and session ID</a:t>
            </a:r>
          </a:p>
        </p:txBody>
      </p:sp>
      <p:sp>
        <p:nvSpPr>
          <p:cNvPr id="16" name="Rectangle 15">
            <a:extLst>
              <a:ext uri="{FF2B5EF4-FFF2-40B4-BE49-F238E27FC236}">
                <a16:creationId xmlns:a16="http://schemas.microsoft.com/office/drawing/2014/main" id="{2F5C8B97-F7F8-4A1E-817E-A1368E6278E7}"/>
              </a:ext>
            </a:extLst>
          </p:cNvPr>
          <p:cNvSpPr>
            <a:spLocks noGrp="1"/>
          </p:cNvSpPr>
          <p:nvPr/>
        </p:nvSpPr>
        <p:spPr>
          <a:xfrm>
            <a:off x="895350" y="5924550"/>
            <a:ext cx="10287000" cy="323850"/>
          </a:xfrm>
          <a:prstGeom prst="rect">
            <a:avLst/>
          </a:prstGeom>
          <a:noFill/>
          <a:ln w="0">
            <a:noFill/>
          </a:ln>
        </p:spPr>
        <p:txBody>
          <a:bodyPr anchor="t">
            <a:normAutofit/>
          </a:bodyPr>
          <a:lstStyle/>
          <a:p>
            <a:pPr algn="ctr">
              <a:defRPr sz="1350" b="0" i="0">
                <a:solidFill>
                  <a:srgbClr val="5B6475"/>
                </a:solidFill>
                <a:latin typeface="Arial"/>
                <a:ea typeface="Arial"/>
                <a:cs typeface="Arial"/>
              </a:defRPr>
            </a:pPr>
            <a:r>
              <a:rPr sz="1350" b="0" i="0">
                <a:solidFill>
                  <a:srgbClr val="5B6475"/>
                </a:solidFill>
                <a:latin typeface="Arial"/>
                <a:ea typeface="Arial"/>
                <a:cs typeface="Arial"/>
              </a:rPr>
              <a:t>Backup: the scripted five-question demo under scripts/demo.py</a:t>
            </a:r>
          </a:p>
        </p:txBody>
      </p:sp>
    </p:spTree>
    <p:extLst>
      <p:ext uri="{BB962C8B-B14F-4D97-AF65-F5344CB8AC3E}">
        <p14:creationId xmlns:p14="http://schemas.microsoft.com/office/powerpoint/2010/main" val="904703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3A5C12E-D8D6-47D2-ADA7-AEF4077B495A}"/>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Verification and honest limits</a:t>
            </a:r>
          </a:p>
        </p:txBody>
      </p:sp>
      <p:sp>
        <p:nvSpPr>
          <p:cNvPr id="2" name="Straight Connector 1">
            <a:extLst>
              <a:ext uri="{FF2B5EF4-FFF2-40B4-BE49-F238E27FC236}">
                <a16:creationId xmlns:a16="http://schemas.microsoft.com/office/drawing/2014/main" id="{419293D5-C8F9-4902-8331-5E7913F204D3}"/>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7D5E49EB-3289-42E8-8054-5BF3473A26D5}"/>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09</a:t>
            </a:r>
          </a:p>
        </p:txBody>
      </p:sp>
      <p:sp>
        <p:nvSpPr>
          <p:cNvPr id="4" name="Rectangle 3">
            <a:extLst>
              <a:ext uri="{FF2B5EF4-FFF2-40B4-BE49-F238E27FC236}">
                <a16:creationId xmlns:a16="http://schemas.microsoft.com/office/drawing/2014/main" id="{86153BC7-6A02-4A8F-93C7-5CC1BED920E1}"/>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8B130A46-767E-4DF8-8C55-16FF7C30E2E7}"/>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9/10</a:t>
            </a:r>
          </a:p>
        </p:txBody>
      </p:sp>
      <p:sp>
        <p:nvSpPr>
          <p:cNvPr id="6" name="Rectangle 5">
            <a:extLst>
              <a:ext uri="{FF2B5EF4-FFF2-40B4-BE49-F238E27FC236}">
                <a16:creationId xmlns:a16="http://schemas.microsoft.com/office/drawing/2014/main" id="{94B279DD-5926-48C3-A174-E3E5A734CC8D}"/>
              </a:ext>
            </a:extLst>
          </p:cNvPr>
          <p:cNvSpPr>
            <a:spLocks noGrp="1"/>
          </p:cNvSpPr>
          <p:nvPr/>
        </p:nvSpPr>
        <p:spPr>
          <a:xfrm>
            <a:off x="857250" y="1504950"/>
            <a:ext cx="2000250" cy="742950"/>
          </a:xfrm>
          <a:prstGeom prst="rect">
            <a:avLst/>
          </a:prstGeom>
          <a:noFill/>
          <a:ln w="0">
            <a:noFill/>
          </a:ln>
        </p:spPr>
        <p:txBody>
          <a:bodyPr anchor="t">
            <a:normAutofit fontScale="98276"/>
          </a:bodyPr>
          <a:lstStyle/>
          <a:p>
            <a:pPr algn="ctr">
              <a:defRPr sz="4350" b="1" i="0">
                <a:solidFill>
                  <a:srgbClr val="0B3D91"/>
                </a:solidFill>
                <a:latin typeface="Arial"/>
                <a:ea typeface="Arial"/>
                <a:cs typeface="Arial"/>
              </a:defRPr>
            </a:pPr>
            <a:r>
              <a:rPr sz="4350" b="1" i="0">
                <a:solidFill>
                  <a:srgbClr val="0B3D91"/>
                </a:solidFill>
                <a:latin typeface="Arial"/>
                <a:ea typeface="Arial"/>
                <a:cs typeface="Arial"/>
              </a:rPr>
              <a:t>64</a:t>
            </a:r>
          </a:p>
        </p:txBody>
      </p:sp>
      <p:sp>
        <p:nvSpPr>
          <p:cNvPr id="7" name="Rectangle 6">
            <a:extLst>
              <a:ext uri="{FF2B5EF4-FFF2-40B4-BE49-F238E27FC236}">
                <a16:creationId xmlns:a16="http://schemas.microsoft.com/office/drawing/2014/main" id="{B956834C-2511-4D65-9C85-66109DEFC6A5}"/>
              </a:ext>
            </a:extLst>
          </p:cNvPr>
          <p:cNvSpPr>
            <a:spLocks noGrp="1"/>
          </p:cNvSpPr>
          <p:nvPr/>
        </p:nvSpPr>
        <p:spPr>
          <a:xfrm>
            <a:off x="762000" y="2305050"/>
            <a:ext cx="2190750" cy="3619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offline tests passing</a:t>
            </a:r>
          </a:p>
        </p:txBody>
      </p:sp>
      <p:sp>
        <p:nvSpPr>
          <p:cNvPr id="8" name="Rectangle 7">
            <a:extLst>
              <a:ext uri="{FF2B5EF4-FFF2-40B4-BE49-F238E27FC236}">
                <a16:creationId xmlns:a16="http://schemas.microsoft.com/office/drawing/2014/main" id="{02E89D15-A0E6-4DA3-997C-C02152073874}"/>
              </a:ext>
            </a:extLst>
          </p:cNvPr>
          <p:cNvSpPr>
            <a:spLocks noGrp="1"/>
          </p:cNvSpPr>
          <p:nvPr/>
        </p:nvSpPr>
        <p:spPr>
          <a:xfrm>
            <a:off x="3600450" y="1504950"/>
            <a:ext cx="2381250" cy="742950"/>
          </a:xfrm>
          <a:prstGeom prst="rect">
            <a:avLst/>
          </a:prstGeom>
          <a:noFill/>
          <a:ln w="0">
            <a:noFill/>
          </a:ln>
        </p:spPr>
        <p:txBody>
          <a:bodyPr anchor="t">
            <a:normAutofit/>
          </a:bodyPr>
          <a:lstStyle/>
          <a:p>
            <a:pPr algn="ctr">
              <a:defRPr sz="3900" b="1" i="0">
                <a:solidFill>
                  <a:srgbClr val="166534"/>
                </a:solidFill>
                <a:latin typeface="Arial"/>
                <a:ea typeface="Arial"/>
                <a:cs typeface="Arial"/>
              </a:defRPr>
            </a:pPr>
            <a:r>
              <a:rPr sz="3900" b="1" i="0">
                <a:solidFill>
                  <a:srgbClr val="166534"/>
                </a:solidFill>
                <a:latin typeface="Arial"/>
                <a:ea typeface="Arial"/>
                <a:cs typeface="Arial"/>
              </a:rPr>
              <a:t>73.56%</a:t>
            </a:r>
          </a:p>
        </p:txBody>
      </p:sp>
      <p:sp>
        <p:nvSpPr>
          <p:cNvPr id="9" name="Rectangle 8">
            <a:extLst>
              <a:ext uri="{FF2B5EF4-FFF2-40B4-BE49-F238E27FC236}">
                <a16:creationId xmlns:a16="http://schemas.microsoft.com/office/drawing/2014/main" id="{7F10A2E5-5235-4DB2-B5BC-5451253DBA4F}"/>
              </a:ext>
            </a:extLst>
          </p:cNvPr>
          <p:cNvSpPr>
            <a:spLocks noGrp="1"/>
          </p:cNvSpPr>
          <p:nvPr/>
        </p:nvSpPr>
        <p:spPr>
          <a:xfrm>
            <a:off x="3600450" y="2305050"/>
            <a:ext cx="2381250" cy="361950"/>
          </a:xfrm>
          <a:prstGeom prst="rect">
            <a:avLst/>
          </a:prstGeom>
          <a:noFill/>
          <a:ln w="0">
            <a:noFill/>
          </a:ln>
        </p:spPr>
        <p:txBody>
          <a:bodyPr anchor="t">
            <a:normAutofit/>
          </a:bodyPr>
          <a:lstStyle/>
          <a:p>
            <a:pPr algn="ctr">
              <a:defRPr sz="1500" b="1" i="0">
                <a:solidFill>
                  <a:srgbClr val="14213D"/>
                </a:solidFill>
                <a:latin typeface="Arial"/>
                <a:ea typeface="Arial"/>
                <a:cs typeface="Arial"/>
              </a:defRPr>
            </a:pPr>
            <a:r>
              <a:rPr sz="1500" b="1" i="0">
                <a:solidFill>
                  <a:srgbClr val="14213D"/>
                </a:solidFill>
                <a:latin typeface="Arial"/>
                <a:ea typeface="Arial"/>
                <a:cs typeface="Arial"/>
              </a:rPr>
              <a:t>branch-aware coverage</a:t>
            </a:r>
          </a:p>
        </p:txBody>
      </p:sp>
      <p:sp>
        <p:nvSpPr>
          <p:cNvPr id="10" name="Rectangle 9">
            <a:extLst>
              <a:ext uri="{FF2B5EF4-FFF2-40B4-BE49-F238E27FC236}">
                <a16:creationId xmlns:a16="http://schemas.microsoft.com/office/drawing/2014/main" id="{01BFEF74-7921-4683-9BCC-BE05DF5C1668}"/>
              </a:ext>
            </a:extLst>
          </p:cNvPr>
          <p:cNvSpPr>
            <a:spLocks noGrp="1"/>
          </p:cNvSpPr>
          <p:nvPr/>
        </p:nvSpPr>
        <p:spPr>
          <a:xfrm>
            <a:off x="6762750" y="1504950"/>
            <a:ext cx="1619250" cy="742950"/>
          </a:xfrm>
          <a:prstGeom prst="rect">
            <a:avLst/>
          </a:prstGeom>
          <a:noFill/>
          <a:ln w="0">
            <a:noFill/>
          </a:ln>
        </p:spPr>
        <p:txBody>
          <a:bodyPr anchor="t">
            <a:normAutofit fontScale="98276"/>
          </a:bodyPr>
          <a:lstStyle/>
          <a:p>
            <a:pPr algn="ctr">
              <a:defRPr sz="4350" b="1" i="0">
                <a:solidFill>
                  <a:srgbClr val="0B3D91"/>
                </a:solidFill>
                <a:latin typeface="Arial"/>
                <a:ea typeface="Arial"/>
                <a:cs typeface="Arial"/>
              </a:defRPr>
            </a:pPr>
            <a:r>
              <a:rPr sz="4350" b="1" i="0">
                <a:solidFill>
                  <a:srgbClr val="0B3D91"/>
                </a:solidFill>
                <a:latin typeface="Arial"/>
                <a:ea typeface="Arial"/>
                <a:cs typeface="Arial"/>
              </a:rPr>
              <a:t>0</a:t>
            </a:r>
          </a:p>
        </p:txBody>
      </p:sp>
      <p:sp>
        <p:nvSpPr>
          <p:cNvPr id="11" name="Rectangle 10">
            <a:extLst>
              <a:ext uri="{FF2B5EF4-FFF2-40B4-BE49-F238E27FC236}">
                <a16:creationId xmlns:a16="http://schemas.microsoft.com/office/drawing/2014/main" id="{B096A124-7791-4501-9049-C5135C8D9866}"/>
              </a:ext>
            </a:extLst>
          </p:cNvPr>
          <p:cNvSpPr>
            <a:spLocks noGrp="1"/>
          </p:cNvSpPr>
          <p:nvPr/>
        </p:nvSpPr>
        <p:spPr>
          <a:xfrm>
            <a:off x="6438900" y="2305050"/>
            <a:ext cx="2286000" cy="514350"/>
          </a:xfrm>
          <a:prstGeom prst="rect">
            <a:avLst/>
          </a:prstGeom>
          <a:noFill/>
          <a:ln w="0">
            <a:noFill/>
          </a:ln>
        </p:spPr>
        <p:txBody>
          <a:bodyPr anchor="t">
            <a:normAutofit/>
          </a:bodyPr>
          <a:lstStyle/>
          <a:p>
            <a:pPr algn="ctr">
              <a:defRPr sz="1350" b="1" i="0">
                <a:solidFill>
                  <a:srgbClr val="14213D"/>
                </a:solidFill>
                <a:latin typeface="Arial"/>
                <a:ea typeface="Arial"/>
                <a:cs typeface="Arial"/>
              </a:defRPr>
            </a:pPr>
            <a:r>
              <a:rPr sz="1350" b="1" i="0">
                <a:solidFill>
                  <a:srgbClr val="14213D"/>
                </a:solidFill>
                <a:latin typeface="Arial"/>
                <a:ea typeface="Arial"/>
                <a:cs typeface="Arial"/>
              </a:rPr>
              <a:t>live-network test dependencies</a:t>
            </a:r>
          </a:p>
        </p:txBody>
      </p:sp>
      <p:sp>
        <p:nvSpPr>
          <p:cNvPr id="12" name="Rectangle 11">
            <a:extLst>
              <a:ext uri="{FF2B5EF4-FFF2-40B4-BE49-F238E27FC236}">
                <a16:creationId xmlns:a16="http://schemas.microsoft.com/office/drawing/2014/main" id="{6E72A330-9709-43C4-8E71-41C6CEAFD8E3}"/>
              </a:ext>
            </a:extLst>
          </p:cNvPr>
          <p:cNvSpPr>
            <a:spLocks noGrp="1"/>
          </p:cNvSpPr>
          <p:nvPr/>
        </p:nvSpPr>
        <p:spPr>
          <a:xfrm>
            <a:off x="9410700" y="1581150"/>
            <a:ext cx="1905000" cy="666750"/>
          </a:xfrm>
          <a:prstGeom prst="rect">
            <a:avLst/>
          </a:prstGeom>
          <a:noFill/>
          <a:ln w="0">
            <a:noFill/>
          </a:ln>
        </p:spPr>
        <p:txBody>
          <a:bodyPr anchor="t">
            <a:normAutofit/>
          </a:bodyPr>
          <a:lstStyle/>
          <a:p>
            <a:pPr algn="ctr">
              <a:defRPr sz="3225" b="1" i="0">
                <a:solidFill>
                  <a:srgbClr val="166534"/>
                </a:solidFill>
                <a:latin typeface="Arial"/>
                <a:ea typeface="Arial"/>
                <a:cs typeface="Arial"/>
              </a:defRPr>
            </a:pPr>
            <a:r>
              <a:rPr sz="3225" b="1" i="0">
                <a:solidFill>
                  <a:srgbClr val="166534"/>
                </a:solidFill>
                <a:latin typeface="Arial"/>
                <a:ea typeface="Arial"/>
                <a:cs typeface="Arial"/>
              </a:rPr>
              <a:t>PASS</a:t>
            </a:r>
          </a:p>
        </p:txBody>
      </p:sp>
      <p:sp>
        <p:nvSpPr>
          <p:cNvPr id="13" name="Rectangle 12">
            <a:extLst>
              <a:ext uri="{FF2B5EF4-FFF2-40B4-BE49-F238E27FC236}">
                <a16:creationId xmlns:a16="http://schemas.microsoft.com/office/drawing/2014/main" id="{BD5D6A88-E17C-4A46-AA67-9F7824B0C556}"/>
              </a:ext>
            </a:extLst>
          </p:cNvPr>
          <p:cNvSpPr>
            <a:spLocks noGrp="1"/>
          </p:cNvSpPr>
          <p:nvPr/>
        </p:nvSpPr>
        <p:spPr>
          <a:xfrm>
            <a:off x="9239250" y="2305050"/>
            <a:ext cx="2190750" cy="361950"/>
          </a:xfrm>
          <a:prstGeom prst="rect">
            <a:avLst/>
          </a:prstGeom>
          <a:noFill/>
          <a:ln w="0">
            <a:noFill/>
          </a:ln>
        </p:spPr>
        <p:txBody>
          <a:bodyPr anchor="t">
            <a:normAutofit/>
          </a:bodyPr>
          <a:lstStyle/>
          <a:p>
            <a:pPr algn="ctr">
              <a:defRPr sz="1425" b="1" i="0">
                <a:solidFill>
                  <a:srgbClr val="14213D"/>
                </a:solidFill>
                <a:latin typeface="Arial"/>
                <a:ea typeface="Arial"/>
                <a:cs typeface="Arial"/>
              </a:defRPr>
            </a:pPr>
            <a:r>
              <a:rPr sz="1425" b="1" i="0">
                <a:solidFill>
                  <a:srgbClr val="14213D"/>
                </a:solidFill>
                <a:latin typeface="Arial"/>
                <a:ea typeface="Arial"/>
                <a:cs typeface="Arial"/>
              </a:rPr>
              <a:t>Ruff and strict mypy</a:t>
            </a:r>
          </a:p>
        </p:txBody>
      </p:sp>
      <p:sp>
        <p:nvSpPr>
          <p:cNvPr id="14" name="Straight Connector 13">
            <a:extLst>
              <a:ext uri="{FF2B5EF4-FFF2-40B4-BE49-F238E27FC236}">
                <a16:creationId xmlns:a16="http://schemas.microsoft.com/office/drawing/2014/main" id="{DB9D92AF-B03D-4B95-8D3D-29A2AA592B6F}"/>
              </a:ext>
            </a:extLst>
          </p:cNvPr>
          <p:cNvSpPr>
            <a:spLocks noGrp="1"/>
          </p:cNvSpPr>
          <p:nvPr/>
        </p:nvSpPr>
        <p:spPr>
          <a:xfrm>
            <a:off x="762000" y="3143250"/>
            <a:ext cx="10668000" cy="0"/>
          </a:xfrm>
          <a:prstGeom prst="line">
            <a:avLst/>
          </a:prstGeom>
          <a:ln w="11430">
            <a:solidFill>
              <a:srgbClr val="D6DCE7"/>
            </a:solidFill>
            <a:prstDash val="solid"/>
          </a:ln>
        </p:spPr>
        <p:txBody>
          <a:bodyPr/>
          <a:lstStyle/>
          <a:p>
            <a:endParaRPr lang="en-US"/>
          </a:p>
        </p:txBody>
      </p:sp>
      <p:sp>
        <p:nvSpPr>
          <p:cNvPr id="15" name="Rectangle 14">
            <a:extLst>
              <a:ext uri="{FF2B5EF4-FFF2-40B4-BE49-F238E27FC236}">
                <a16:creationId xmlns:a16="http://schemas.microsoft.com/office/drawing/2014/main" id="{1EC71C45-2E7E-4D32-BE19-09354C855E6E}"/>
              </a:ext>
            </a:extLst>
          </p:cNvPr>
          <p:cNvSpPr>
            <a:spLocks noGrp="1"/>
          </p:cNvSpPr>
          <p:nvPr/>
        </p:nvSpPr>
        <p:spPr>
          <a:xfrm>
            <a:off x="838200" y="3524250"/>
            <a:ext cx="2952750" cy="400050"/>
          </a:xfrm>
          <a:prstGeom prst="rect">
            <a:avLst/>
          </a:prstGeom>
          <a:noFill/>
          <a:ln w="0">
            <a:noFill/>
          </a:ln>
        </p:spPr>
        <p:txBody>
          <a:bodyPr anchor="t">
            <a:normAutofit/>
          </a:bodyPr>
          <a:lstStyle/>
          <a:p>
            <a:pPr algn="l">
              <a:defRPr sz="1950" b="1" i="0">
                <a:solidFill>
                  <a:srgbClr val="B42318"/>
                </a:solidFill>
                <a:latin typeface="Arial"/>
                <a:ea typeface="Arial"/>
                <a:cs typeface="Arial"/>
              </a:defRPr>
            </a:pPr>
            <a:r>
              <a:rPr sz="1950" b="1" i="0">
                <a:solidFill>
                  <a:srgbClr val="B42318"/>
                </a:solidFill>
                <a:latin typeface="Arial"/>
                <a:ea typeface="Arial"/>
                <a:cs typeface="Arial"/>
              </a:rPr>
              <a:t>Current limitations</a:t>
            </a:r>
          </a:p>
        </p:txBody>
      </p:sp>
      <p:sp>
        <p:nvSpPr>
          <p:cNvPr id="16" name="Oval 15">
            <a:extLst>
              <a:ext uri="{FF2B5EF4-FFF2-40B4-BE49-F238E27FC236}">
                <a16:creationId xmlns:a16="http://schemas.microsoft.com/office/drawing/2014/main" id="{EF0E00D8-D395-48BC-A992-D1FD42AA0E43}"/>
              </a:ext>
            </a:extLst>
          </p:cNvPr>
          <p:cNvSpPr>
            <a:spLocks noGrp="1"/>
          </p:cNvSpPr>
          <p:nvPr/>
        </p:nvSpPr>
        <p:spPr>
          <a:xfrm>
            <a:off x="876300" y="4171950"/>
            <a:ext cx="95250" cy="95250"/>
          </a:xfrm>
          <a:prstGeom prst="ellipse">
            <a:avLst/>
          </a:prstGeom>
          <a:solidFill>
            <a:srgbClr val="B42318"/>
          </a:solidFill>
          <a:ln w="0">
            <a:noFill/>
          </a:ln>
        </p:spPr>
        <p:txBody>
          <a:bodyPr/>
          <a:lstStyle/>
          <a:p>
            <a:endParaRPr lang="en-US"/>
          </a:p>
        </p:txBody>
      </p:sp>
      <p:sp>
        <p:nvSpPr>
          <p:cNvPr id="17" name="Rectangle 16">
            <a:extLst>
              <a:ext uri="{FF2B5EF4-FFF2-40B4-BE49-F238E27FC236}">
                <a16:creationId xmlns:a16="http://schemas.microsoft.com/office/drawing/2014/main" id="{F09A7CB3-6F75-44DC-8997-2410C5440950}"/>
              </a:ext>
            </a:extLst>
          </p:cNvPr>
          <p:cNvSpPr>
            <a:spLocks noGrp="1"/>
          </p:cNvSpPr>
          <p:nvPr/>
        </p:nvSpPr>
        <p:spPr>
          <a:xfrm>
            <a:off x="1085850" y="4095750"/>
            <a:ext cx="4743450" cy="495300"/>
          </a:xfrm>
          <a:prstGeom prst="rect">
            <a:avLst/>
          </a:prstGeom>
          <a:noFill/>
          <a:ln w="0">
            <a:noFill/>
          </a:ln>
        </p:spPr>
        <p:txBody>
          <a:bodyPr anchor="t">
            <a:normAutofit fontScale="92982"/>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Citation structure is checked, but semantic support is not proven</a:t>
            </a:r>
          </a:p>
        </p:txBody>
      </p:sp>
      <p:sp>
        <p:nvSpPr>
          <p:cNvPr id="18" name="Oval 17">
            <a:extLst>
              <a:ext uri="{FF2B5EF4-FFF2-40B4-BE49-F238E27FC236}">
                <a16:creationId xmlns:a16="http://schemas.microsoft.com/office/drawing/2014/main" id="{F5C5E398-1C60-472C-BB84-57598640E0C1}"/>
              </a:ext>
            </a:extLst>
          </p:cNvPr>
          <p:cNvSpPr>
            <a:spLocks noGrp="1"/>
          </p:cNvSpPr>
          <p:nvPr/>
        </p:nvSpPr>
        <p:spPr>
          <a:xfrm>
            <a:off x="876300" y="4800600"/>
            <a:ext cx="95250" cy="95250"/>
          </a:xfrm>
          <a:prstGeom prst="ellipse">
            <a:avLst/>
          </a:prstGeom>
          <a:solidFill>
            <a:srgbClr val="B42318"/>
          </a:solidFill>
          <a:ln w="0">
            <a:noFill/>
          </a:ln>
        </p:spPr>
        <p:txBody>
          <a:bodyPr/>
          <a:lstStyle/>
          <a:p>
            <a:endParaRPr lang="en-US"/>
          </a:p>
        </p:txBody>
      </p:sp>
      <p:sp>
        <p:nvSpPr>
          <p:cNvPr id="19" name="Rectangle 18">
            <a:extLst>
              <a:ext uri="{FF2B5EF4-FFF2-40B4-BE49-F238E27FC236}">
                <a16:creationId xmlns:a16="http://schemas.microsoft.com/office/drawing/2014/main" id="{471C89F5-41BF-4854-9FB1-52E571CA5E3E}"/>
              </a:ext>
            </a:extLst>
          </p:cNvPr>
          <p:cNvSpPr>
            <a:spLocks noGrp="1"/>
          </p:cNvSpPr>
          <p:nvPr/>
        </p:nvSpPr>
        <p:spPr>
          <a:xfrm>
            <a:off x="1085850" y="4724400"/>
            <a:ext cx="4743450" cy="495300"/>
          </a:xfrm>
          <a:prstGeom prst="rect">
            <a:avLst/>
          </a:prstGeom>
          <a:noFill/>
          <a:ln w="0">
            <a:noFill/>
          </a:ln>
        </p:spPr>
        <p:txBody>
          <a:bodyPr anchor="t">
            <a:normAutofit fontScale="93108"/>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Rate limits coordinate within one process, not across replicas</a:t>
            </a:r>
          </a:p>
        </p:txBody>
      </p:sp>
      <p:sp>
        <p:nvSpPr>
          <p:cNvPr id="20" name="Oval 19">
            <a:extLst>
              <a:ext uri="{FF2B5EF4-FFF2-40B4-BE49-F238E27FC236}">
                <a16:creationId xmlns:a16="http://schemas.microsoft.com/office/drawing/2014/main" id="{A978D728-D32B-4A89-A6DB-93633F8E189C}"/>
              </a:ext>
            </a:extLst>
          </p:cNvPr>
          <p:cNvSpPr>
            <a:spLocks noGrp="1"/>
          </p:cNvSpPr>
          <p:nvPr/>
        </p:nvSpPr>
        <p:spPr>
          <a:xfrm>
            <a:off x="876300" y="5429250"/>
            <a:ext cx="95250" cy="95250"/>
          </a:xfrm>
          <a:prstGeom prst="ellipse">
            <a:avLst/>
          </a:prstGeom>
          <a:solidFill>
            <a:srgbClr val="B42318"/>
          </a:solidFill>
          <a:ln w="0">
            <a:noFill/>
          </a:ln>
        </p:spPr>
        <p:txBody>
          <a:bodyPr/>
          <a:lstStyle/>
          <a:p>
            <a:endParaRPr lang="en-US"/>
          </a:p>
        </p:txBody>
      </p:sp>
      <p:sp>
        <p:nvSpPr>
          <p:cNvPr id="21" name="Rectangle 20">
            <a:extLst>
              <a:ext uri="{FF2B5EF4-FFF2-40B4-BE49-F238E27FC236}">
                <a16:creationId xmlns:a16="http://schemas.microsoft.com/office/drawing/2014/main" id="{6C328C1D-9426-41CD-8815-3B018743DE90}"/>
              </a:ext>
            </a:extLst>
          </p:cNvPr>
          <p:cNvSpPr>
            <a:spLocks noGrp="1"/>
          </p:cNvSpPr>
          <p:nvPr/>
        </p:nvSpPr>
        <p:spPr>
          <a:xfrm>
            <a:off x="1085850" y="5353050"/>
            <a:ext cx="4743450" cy="495300"/>
          </a:xfrm>
          <a:prstGeom prst="rect">
            <a:avLst/>
          </a:prstGeom>
          <a:noFill/>
          <a:ln w="0">
            <a:noFill/>
          </a:ln>
        </p:spPr>
        <p:txBody>
          <a:bodyPr anchor="t">
            <a:normAutofit/>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Source relevance depends on upstream search quality</a:t>
            </a:r>
          </a:p>
        </p:txBody>
      </p:sp>
      <p:sp>
        <p:nvSpPr>
          <p:cNvPr id="22" name="Rectangle 21">
            <a:extLst>
              <a:ext uri="{FF2B5EF4-FFF2-40B4-BE49-F238E27FC236}">
                <a16:creationId xmlns:a16="http://schemas.microsoft.com/office/drawing/2014/main" id="{C9FC7427-5121-40A7-AB55-E85090ECB8C5}"/>
              </a:ext>
            </a:extLst>
          </p:cNvPr>
          <p:cNvSpPr>
            <a:spLocks noGrp="1"/>
          </p:cNvSpPr>
          <p:nvPr/>
        </p:nvSpPr>
        <p:spPr>
          <a:xfrm>
            <a:off x="6858000" y="3524250"/>
            <a:ext cx="2857500" cy="400050"/>
          </a:xfrm>
          <a:prstGeom prst="rect">
            <a:avLst/>
          </a:prstGeom>
          <a:noFill/>
          <a:ln w="0">
            <a:noFill/>
          </a:ln>
        </p:spPr>
        <p:txBody>
          <a:bodyPr anchor="t">
            <a:normAutofit/>
          </a:bodyPr>
          <a:lstStyle/>
          <a:p>
            <a:pPr algn="l">
              <a:defRPr sz="1950" b="1" i="0">
                <a:solidFill>
                  <a:srgbClr val="0B3D91"/>
                </a:solidFill>
                <a:latin typeface="Arial"/>
                <a:ea typeface="Arial"/>
                <a:cs typeface="Arial"/>
              </a:defRPr>
            </a:pPr>
            <a:r>
              <a:rPr sz="1950" b="1" i="0">
                <a:solidFill>
                  <a:srgbClr val="0B3D91"/>
                </a:solidFill>
                <a:latin typeface="Arial"/>
                <a:ea typeface="Arial"/>
                <a:cs typeface="Arial"/>
              </a:rPr>
              <a:t>Next improvements</a:t>
            </a:r>
          </a:p>
        </p:txBody>
      </p:sp>
      <p:sp>
        <p:nvSpPr>
          <p:cNvPr id="23" name="Oval 22">
            <a:extLst>
              <a:ext uri="{FF2B5EF4-FFF2-40B4-BE49-F238E27FC236}">
                <a16:creationId xmlns:a16="http://schemas.microsoft.com/office/drawing/2014/main" id="{E5CCCB33-0A92-43BB-BF37-DBA56CE5F6C6}"/>
              </a:ext>
            </a:extLst>
          </p:cNvPr>
          <p:cNvSpPr>
            <a:spLocks noGrp="1"/>
          </p:cNvSpPr>
          <p:nvPr/>
        </p:nvSpPr>
        <p:spPr>
          <a:xfrm>
            <a:off x="6896100" y="4171950"/>
            <a:ext cx="95250" cy="95250"/>
          </a:xfrm>
          <a:prstGeom prst="ellipse">
            <a:avLst/>
          </a:prstGeom>
          <a:solidFill>
            <a:srgbClr val="0B3D91"/>
          </a:solidFill>
          <a:ln w="0">
            <a:noFill/>
          </a:ln>
        </p:spPr>
        <p:txBody>
          <a:bodyPr/>
          <a:lstStyle/>
          <a:p>
            <a:endParaRPr lang="en-US"/>
          </a:p>
        </p:txBody>
      </p:sp>
      <p:sp>
        <p:nvSpPr>
          <p:cNvPr id="24" name="Rectangle 23">
            <a:extLst>
              <a:ext uri="{FF2B5EF4-FFF2-40B4-BE49-F238E27FC236}">
                <a16:creationId xmlns:a16="http://schemas.microsoft.com/office/drawing/2014/main" id="{C41D7D34-E09C-49FF-9B14-8746B8164A98}"/>
              </a:ext>
            </a:extLst>
          </p:cNvPr>
          <p:cNvSpPr>
            <a:spLocks noGrp="1"/>
          </p:cNvSpPr>
          <p:nvPr/>
        </p:nvSpPr>
        <p:spPr>
          <a:xfrm>
            <a:off x="7105650" y="4095750"/>
            <a:ext cx="3790950" cy="495300"/>
          </a:xfrm>
          <a:prstGeom prst="rect">
            <a:avLst/>
          </a:prstGeom>
          <a:noFill/>
          <a:ln w="0">
            <a:noFill/>
          </a:ln>
        </p:spPr>
        <p:txBody>
          <a:bodyPr anchor="t">
            <a:normAutofit/>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Semantic citation entailment checks</a:t>
            </a:r>
          </a:p>
        </p:txBody>
      </p:sp>
      <p:sp>
        <p:nvSpPr>
          <p:cNvPr id="25" name="Oval 24">
            <a:extLst>
              <a:ext uri="{FF2B5EF4-FFF2-40B4-BE49-F238E27FC236}">
                <a16:creationId xmlns:a16="http://schemas.microsoft.com/office/drawing/2014/main" id="{4BDACC84-209C-4E13-850D-3F04D756B1EB}"/>
              </a:ext>
            </a:extLst>
          </p:cNvPr>
          <p:cNvSpPr>
            <a:spLocks noGrp="1"/>
          </p:cNvSpPr>
          <p:nvPr/>
        </p:nvSpPr>
        <p:spPr>
          <a:xfrm>
            <a:off x="6896100" y="4800600"/>
            <a:ext cx="95250" cy="95250"/>
          </a:xfrm>
          <a:prstGeom prst="ellipse">
            <a:avLst/>
          </a:prstGeom>
          <a:solidFill>
            <a:srgbClr val="0B3D91"/>
          </a:solidFill>
          <a:ln w="0">
            <a:noFill/>
          </a:ln>
        </p:spPr>
        <p:txBody>
          <a:bodyPr/>
          <a:lstStyle/>
          <a:p>
            <a:endParaRPr lang="en-US"/>
          </a:p>
        </p:txBody>
      </p:sp>
      <p:sp>
        <p:nvSpPr>
          <p:cNvPr id="26" name="Rectangle 25">
            <a:extLst>
              <a:ext uri="{FF2B5EF4-FFF2-40B4-BE49-F238E27FC236}">
                <a16:creationId xmlns:a16="http://schemas.microsoft.com/office/drawing/2014/main" id="{987884F6-82CB-42D3-BFB0-91400B8D4100}"/>
              </a:ext>
            </a:extLst>
          </p:cNvPr>
          <p:cNvSpPr>
            <a:spLocks noGrp="1"/>
          </p:cNvSpPr>
          <p:nvPr/>
        </p:nvSpPr>
        <p:spPr>
          <a:xfrm>
            <a:off x="7105650" y="4724400"/>
            <a:ext cx="3790950" cy="495300"/>
          </a:xfrm>
          <a:prstGeom prst="rect">
            <a:avLst/>
          </a:prstGeom>
          <a:noFill/>
          <a:ln w="0">
            <a:noFill/>
          </a:ln>
        </p:spPr>
        <p:txBody>
          <a:bodyPr anchor="t">
            <a:normAutofit/>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Multi-provider failover</a:t>
            </a:r>
          </a:p>
        </p:txBody>
      </p:sp>
      <p:sp>
        <p:nvSpPr>
          <p:cNvPr id="27" name="Oval 26">
            <a:extLst>
              <a:ext uri="{FF2B5EF4-FFF2-40B4-BE49-F238E27FC236}">
                <a16:creationId xmlns:a16="http://schemas.microsoft.com/office/drawing/2014/main" id="{F8F0CD3D-1292-4B0C-8411-147CE1F6031F}"/>
              </a:ext>
            </a:extLst>
          </p:cNvPr>
          <p:cNvSpPr>
            <a:spLocks noGrp="1"/>
          </p:cNvSpPr>
          <p:nvPr/>
        </p:nvSpPr>
        <p:spPr>
          <a:xfrm>
            <a:off x="6896100" y="5429250"/>
            <a:ext cx="95250" cy="95250"/>
          </a:xfrm>
          <a:prstGeom prst="ellipse">
            <a:avLst/>
          </a:prstGeom>
          <a:solidFill>
            <a:srgbClr val="0B3D91"/>
          </a:solidFill>
          <a:ln w="0">
            <a:noFill/>
          </a:ln>
        </p:spPr>
        <p:txBody>
          <a:bodyPr/>
          <a:lstStyle/>
          <a:p>
            <a:endParaRPr lang="en-US"/>
          </a:p>
        </p:txBody>
      </p:sp>
      <p:sp>
        <p:nvSpPr>
          <p:cNvPr id="28" name="Rectangle 27">
            <a:extLst>
              <a:ext uri="{FF2B5EF4-FFF2-40B4-BE49-F238E27FC236}">
                <a16:creationId xmlns:a16="http://schemas.microsoft.com/office/drawing/2014/main" id="{EE318FB2-EC02-438A-9B59-F9DDD150FD6C}"/>
              </a:ext>
            </a:extLst>
          </p:cNvPr>
          <p:cNvSpPr>
            <a:spLocks noGrp="1"/>
          </p:cNvSpPr>
          <p:nvPr/>
        </p:nvSpPr>
        <p:spPr>
          <a:xfrm>
            <a:off x="7105650" y="5353050"/>
            <a:ext cx="3790950" cy="495300"/>
          </a:xfrm>
          <a:prstGeom prst="rect">
            <a:avLst/>
          </a:prstGeom>
          <a:noFill/>
          <a:ln w="0">
            <a:noFill/>
          </a:ln>
        </p:spPr>
        <p:txBody>
          <a:bodyPr anchor="t">
            <a:normAutofit/>
          </a:bodyPr>
          <a:lstStyle/>
          <a:p>
            <a:pPr algn="l">
              <a:defRPr sz="1425" b="0" i="0">
                <a:solidFill>
                  <a:srgbClr val="14213D"/>
                </a:solidFill>
                <a:latin typeface="Arial"/>
                <a:ea typeface="Arial"/>
                <a:cs typeface="Arial"/>
              </a:defRPr>
            </a:pPr>
            <a:r>
              <a:rPr sz="1425" b="0" i="0">
                <a:solidFill>
                  <a:srgbClr val="14213D"/>
                </a:solidFill>
                <a:latin typeface="Arial"/>
                <a:ea typeface="Arial"/>
                <a:cs typeface="Arial"/>
              </a:rPr>
              <a:t>Distributed rate-limit coordination</a:t>
            </a:r>
          </a:p>
        </p:txBody>
      </p:sp>
    </p:spTree>
    <p:extLst>
      <p:ext uri="{BB962C8B-B14F-4D97-AF65-F5344CB8AC3E}">
        <p14:creationId xmlns:p14="http://schemas.microsoft.com/office/powerpoint/2010/main" val="11061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2B95F8B-6DFF-45A2-B61E-57BB39A1067A}"/>
              </a:ext>
            </a:extLst>
          </p:cNvPr>
          <p:cNvSpPr>
            <a:spLocks noGrp="1"/>
          </p:cNvSpPr>
          <p:nvPr/>
        </p:nvSpPr>
        <p:spPr>
          <a:xfrm>
            <a:off x="552450" y="342900"/>
            <a:ext cx="9906000" cy="552450"/>
          </a:xfrm>
          <a:prstGeom prst="rect">
            <a:avLst/>
          </a:prstGeom>
          <a:noFill/>
          <a:ln w="0">
            <a:noFill/>
          </a:ln>
        </p:spPr>
        <p:txBody>
          <a:bodyPr anchor="t">
            <a:normAutofit/>
          </a:bodyPr>
          <a:lstStyle/>
          <a:p>
            <a:pPr algn="l">
              <a:defRPr sz="2550" b="1" i="0">
                <a:solidFill>
                  <a:srgbClr val="0B3D91"/>
                </a:solidFill>
                <a:latin typeface="Arial"/>
                <a:ea typeface="Arial"/>
                <a:cs typeface="Arial"/>
              </a:defRPr>
            </a:pPr>
            <a:r>
              <a:rPr sz="2550" b="1" i="0">
                <a:solidFill>
                  <a:srgbClr val="0B3D91"/>
                </a:solidFill>
                <a:latin typeface="Arial"/>
                <a:ea typeface="Arial"/>
                <a:cs typeface="Arial"/>
              </a:rPr>
              <a:t>Team ownership and questions</a:t>
            </a:r>
          </a:p>
        </p:txBody>
      </p:sp>
      <p:sp>
        <p:nvSpPr>
          <p:cNvPr id="2" name="Straight Connector 1">
            <a:extLst>
              <a:ext uri="{FF2B5EF4-FFF2-40B4-BE49-F238E27FC236}">
                <a16:creationId xmlns:a16="http://schemas.microsoft.com/office/drawing/2014/main" id="{412AE979-30C3-4A4C-AD80-5892931D5C07}"/>
              </a:ext>
            </a:extLst>
          </p:cNvPr>
          <p:cNvSpPr>
            <a:spLocks noGrp="1"/>
          </p:cNvSpPr>
          <p:nvPr/>
        </p:nvSpPr>
        <p:spPr>
          <a:xfrm>
            <a:off x="552450" y="952500"/>
            <a:ext cx="11087100" cy="0"/>
          </a:xfrm>
          <a:prstGeom prst="line">
            <a:avLst/>
          </a:prstGeom>
          <a:ln w="11430">
            <a:solidFill>
              <a:srgbClr val="D6DCE7"/>
            </a:solidFill>
            <a:prstDash val="solid"/>
          </a:ln>
        </p:spPr>
        <p:txBody>
          <a:bodyPr/>
          <a:lstStyle/>
          <a:p>
            <a:endParaRPr lang="en-US"/>
          </a:p>
        </p:txBody>
      </p:sp>
      <p:sp>
        <p:nvSpPr>
          <p:cNvPr id="3" name="Rectangle 2">
            <a:extLst>
              <a:ext uri="{FF2B5EF4-FFF2-40B4-BE49-F238E27FC236}">
                <a16:creationId xmlns:a16="http://schemas.microsoft.com/office/drawing/2014/main" id="{C03C5DA8-5675-4468-85D6-1EAB7B99761C}"/>
              </a:ext>
            </a:extLst>
          </p:cNvPr>
          <p:cNvSpPr>
            <a:spLocks noGrp="1"/>
          </p:cNvSpPr>
          <p:nvPr/>
        </p:nvSpPr>
        <p:spPr>
          <a:xfrm>
            <a:off x="11001375" y="381000"/>
            <a:ext cx="619125" cy="400050"/>
          </a:xfrm>
          <a:prstGeom prst="rect">
            <a:avLst/>
          </a:prstGeom>
          <a:noFill/>
          <a:ln w="0">
            <a:noFill/>
          </a:ln>
        </p:spPr>
        <p:txBody>
          <a:bodyPr anchor="t">
            <a:normAutofit/>
          </a:bodyPr>
          <a:lstStyle/>
          <a:p>
            <a:pPr algn="r">
              <a:defRPr sz="1350" b="1" i="0">
                <a:solidFill>
                  <a:srgbClr val="5B6475"/>
                </a:solidFill>
                <a:latin typeface="Arial"/>
                <a:ea typeface="Arial"/>
                <a:cs typeface="Arial"/>
              </a:defRPr>
            </a:pPr>
            <a:r>
              <a:rPr sz="1350" b="1" i="0">
                <a:solidFill>
                  <a:srgbClr val="5B6475"/>
                </a:solidFill>
                <a:latin typeface="Arial"/>
                <a:ea typeface="Arial"/>
                <a:cs typeface="Arial"/>
              </a:rPr>
              <a:t>10</a:t>
            </a:r>
          </a:p>
        </p:txBody>
      </p:sp>
      <p:sp>
        <p:nvSpPr>
          <p:cNvPr id="4" name="Rectangle 3">
            <a:extLst>
              <a:ext uri="{FF2B5EF4-FFF2-40B4-BE49-F238E27FC236}">
                <a16:creationId xmlns:a16="http://schemas.microsoft.com/office/drawing/2014/main" id="{7EC3F7B1-9677-4B66-A15F-B182310D0ADB}"/>
              </a:ext>
            </a:extLst>
          </p:cNvPr>
          <p:cNvSpPr>
            <a:spLocks noGrp="1"/>
          </p:cNvSpPr>
          <p:nvPr/>
        </p:nvSpPr>
        <p:spPr>
          <a:xfrm>
            <a:off x="552450" y="6496050"/>
            <a:ext cx="3429000" cy="209550"/>
          </a:xfrm>
          <a:prstGeom prst="rect">
            <a:avLst/>
          </a:prstGeom>
          <a:noFill/>
          <a:ln w="0">
            <a:noFill/>
          </a:ln>
        </p:spPr>
        <p:txBody>
          <a:bodyPr anchor="t">
            <a:normAutofit fontScale="86111"/>
          </a:bodyPr>
          <a:lstStyle/>
          <a:p>
            <a:pPr algn="l">
              <a:defRPr sz="900" b="0" i="1">
                <a:solidFill>
                  <a:srgbClr val="5B6475"/>
                </a:solidFill>
                <a:latin typeface="Arial"/>
                <a:ea typeface="Arial"/>
                <a:cs typeface="Arial"/>
              </a:defRPr>
            </a:pPr>
            <a:r>
              <a:rPr sz="900" b="0" i="1">
                <a:solidFill>
                  <a:srgbClr val="5B6475"/>
                </a:solidFill>
                <a:latin typeface="Arial"/>
                <a:ea typeface="Arial"/>
                <a:cs typeface="Arial"/>
              </a:rPr>
              <a:t>Async Research Assistant</a:t>
            </a:r>
          </a:p>
        </p:txBody>
      </p:sp>
      <p:sp>
        <p:nvSpPr>
          <p:cNvPr id="5" name="Rectangle 4">
            <a:extLst>
              <a:ext uri="{FF2B5EF4-FFF2-40B4-BE49-F238E27FC236}">
                <a16:creationId xmlns:a16="http://schemas.microsoft.com/office/drawing/2014/main" id="{3CDC0231-4E69-4862-ACF0-6258AFD69DF0}"/>
              </a:ext>
            </a:extLst>
          </p:cNvPr>
          <p:cNvSpPr>
            <a:spLocks noGrp="1"/>
          </p:cNvSpPr>
          <p:nvPr/>
        </p:nvSpPr>
        <p:spPr>
          <a:xfrm>
            <a:off x="7905750" y="6496050"/>
            <a:ext cx="3714750" cy="209550"/>
          </a:xfrm>
          <a:prstGeom prst="rect">
            <a:avLst/>
          </a:prstGeom>
          <a:noFill/>
          <a:ln w="0">
            <a:noFill/>
          </a:ln>
        </p:spPr>
        <p:txBody>
          <a:bodyPr anchor="t">
            <a:normAutofit fontScale="86111" lnSpcReduction="10000"/>
          </a:bodyPr>
          <a:lstStyle/>
          <a:p>
            <a:pPr algn="r">
              <a:defRPr sz="900" b="0" i="0">
                <a:solidFill>
                  <a:srgbClr val="5B6475"/>
                </a:solidFill>
                <a:latin typeface="Arial"/>
                <a:ea typeface="Arial"/>
                <a:cs typeface="Arial"/>
              </a:defRPr>
            </a:pPr>
            <a:r>
              <a:rPr lang="en-US" sz="900" b="0" i="0" dirty="0">
                <a:solidFill>
                  <a:srgbClr val="5B6475"/>
                </a:solidFill>
                <a:latin typeface="Arial"/>
                <a:ea typeface="Arial"/>
                <a:cs typeface="Arial"/>
              </a:rPr>
              <a:t>M301</a:t>
            </a:r>
            <a:r>
              <a:rPr sz="900" b="0" i="0" dirty="0">
                <a:solidFill>
                  <a:srgbClr val="5B6475"/>
                </a:solidFill>
                <a:latin typeface="Arial"/>
                <a:ea typeface="Arial"/>
                <a:cs typeface="Arial"/>
              </a:rPr>
              <a:t>  •  Spring 2026  •  10/10</a:t>
            </a:r>
          </a:p>
        </p:txBody>
      </p:sp>
      <p:sp>
        <p:nvSpPr>
          <p:cNvPr id="6" name="Rectangle 5">
            <a:extLst>
              <a:ext uri="{FF2B5EF4-FFF2-40B4-BE49-F238E27FC236}">
                <a16:creationId xmlns:a16="http://schemas.microsoft.com/office/drawing/2014/main" id="{5DBE1499-DD98-4EE9-A9A1-571397F6242C}"/>
              </a:ext>
            </a:extLst>
          </p:cNvPr>
          <p:cNvSpPr>
            <a:spLocks noGrp="1"/>
          </p:cNvSpPr>
          <p:nvPr/>
        </p:nvSpPr>
        <p:spPr>
          <a:xfrm>
            <a:off x="781050" y="1428750"/>
            <a:ext cx="3143250" cy="419100"/>
          </a:xfrm>
          <a:prstGeom prst="rect">
            <a:avLst/>
          </a:prstGeom>
          <a:noFill/>
          <a:ln w="0">
            <a:noFill/>
          </a:ln>
        </p:spPr>
        <p:txBody>
          <a:bodyPr anchor="t">
            <a:normAutofit/>
          </a:bodyPr>
          <a:lstStyle/>
          <a:p>
            <a:pPr algn="l">
              <a:defRPr sz="1950" b="1" i="0">
                <a:solidFill>
                  <a:srgbClr val="0B3D91"/>
                </a:solidFill>
                <a:latin typeface="Arial"/>
                <a:ea typeface="Arial"/>
                <a:cs typeface="Arial"/>
              </a:defRPr>
            </a:pPr>
            <a:r>
              <a:rPr sz="1950" b="1" i="0">
                <a:solidFill>
                  <a:srgbClr val="0B3D91"/>
                </a:solidFill>
                <a:latin typeface="Arial"/>
                <a:ea typeface="Arial"/>
                <a:cs typeface="Arial"/>
              </a:rPr>
              <a:t>Samir Həsənov</a:t>
            </a:r>
          </a:p>
        </p:txBody>
      </p:sp>
      <p:sp>
        <p:nvSpPr>
          <p:cNvPr id="7" name="Rectangle 6">
            <a:extLst>
              <a:ext uri="{FF2B5EF4-FFF2-40B4-BE49-F238E27FC236}">
                <a16:creationId xmlns:a16="http://schemas.microsoft.com/office/drawing/2014/main" id="{B1EB70D3-3AE8-46F3-AC15-9802608D52BD}"/>
              </a:ext>
            </a:extLst>
          </p:cNvPr>
          <p:cNvSpPr>
            <a:spLocks noGrp="1"/>
          </p:cNvSpPr>
          <p:nvPr/>
        </p:nvSpPr>
        <p:spPr>
          <a:xfrm>
            <a:off x="781050" y="1962150"/>
            <a:ext cx="3143250" cy="876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Core workflow and concurrency</a:t>
            </a:r>
          </a:p>
          <a:p>
            <a:pPr algn="l">
              <a:defRPr sz="1500" b="0" i="0">
                <a:solidFill>
                  <a:srgbClr val="14213D"/>
                </a:solidFill>
                <a:latin typeface="Arial"/>
                <a:ea typeface="Arial"/>
                <a:cs typeface="Arial"/>
              </a:defRPr>
            </a:pPr>
            <a:r>
              <a:rPr sz="1500" b="0" i="0">
                <a:solidFill>
                  <a:srgbClr val="14213D"/>
                </a:solidFill>
                <a:latin typeface="Arial"/>
                <a:ea typeface="Arial"/>
                <a:cs typeface="Arial"/>
              </a:rPr>
              <a:t>CLI, rendering, and Streamlit UI</a:t>
            </a:r>
          </a:p>
        </p:txBody>
      </p:sp>
      <p:sp>
        <p:nvSpPr>
          <p:cNvPr id="8" name="Rectangle 7">
            <a:extLst>
              <a:ext uri="{FF2B5EF4-FFF2-40B4-BE49-F238E27FC236}">
                <a16:creationId xmlns:a16="http://schemas.microsoft.com/office/drawing/2014/main" id="{7BAC8647-71D3-4120-BD70-18F6C2680FA0}"/>
              </a:ext>
            </a:extLst>
          </p:cNvPr>
          <p:cNvSpPr>
            <a:spLocks noGrp="1"/>
          </p:cNvSpPr>
          <p:nvPr/>
        </p:nvSpPr>
        <p:spPr>
          <a:xfrm>
            <a:off x="4514850" y="1428750"/>
            <a:ext cx="3143250" cy="419100"/>
          </a:xfrm>
          <a:prstGeom prst="rect">
            <a:avLst/>
          </a:prstGeom>
          <a:noFill/>
          <a:ln w="0">
            <a:noFill/>
          </a:ln>
        </p:spPr>
        <p:txBody>
          <a:bodyPr anchor="t">
            <a:normAutofit/>
          </a:bodyPr>
          <a:lstStyle/>
          <a:p>
            <a:pPr algn="l">
              <a:defRPr sz="1950" b="1" i="0">
                <a:solidFill>
                  <a:srgbClr val="0B3D91"/>
                </a:solidFill>
                <a:latin typeface="Arial"/>
                <a:ea typeface="Arial"/>
                <a:cs typeface="Arial"/>
              </a:defRPr>
            </a:pPr>
            <a:r>
              <a:rPr sz="1950" b="1" i="0">
                <a:solidFill>
                  <a:srgbClr val="0B3D91"/>
                </a:solidFill>
                <a:latin typeface="Arial"/>
                <a:ea typeface="Arial"/>
                <a:cs typeface="Arial"/>
              </a:rPr>
              <a:t>Elmir Əsgərov</a:t>
            </a:r>
          </a:p>
        </p:txBody>
      </p:sp>
      <p:sp>
        <p:nvSpPr>
          <p:cNvPr id="9" name="Rectangle 8">
            <a:extLst>
              <a:ext uri="{FF2B5EF4-FFF2-40B4-BE49-F238E27FC236}">
                <a16:creationId xmlns:a16="http://schemas.microsoft.com/office/drawing/2014/main" id="{AFABC31E-6E84-4902-B269-A6EC577A142B}"/>
              </a:ext>
            </a:extLst>
          </p:cNvPr>
          <p:cNvSpPr>
            <a:spLocks noGrp="1"/>
          </p:cNvSpPr>
          <p:nvPr/>
        </p:nvSpPr>
        <p:spPr>
          <a:xfrm>
            <a:off x="4514850" y="1962150"/>
            <a:ext cx="3143250" cy="876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Source and LLM service wrappers</a:t>
            </a:r>
          </a:p>
          <a:p>
            <a:pPr algn="l">
              <a:defRPr sz="1500" b="0" i="0">
                <a:solidFill>
                  <a:srgbClr val="14213D"/>
                </a:solidFill>
                <a:latin typeface="Arial"/>
                <a:ea typeface="Arial"/>
                <a:cs typeface="Arial"/>
              </a:defRPr>
            </a:pPr>
            <a:r>
              <a:rPr sz="1500" b="0" i="0">
                <a:solidFill>
                  <a:srgbClr val="14213D"/>
                </a:solidFill>
                <a:latin typeface="Arial"/>
                <a:ea typeface="Arial"/>
                <a:cs typeface="Arial"/>
              </a:rPr>
              <a:t>Retries, rate limits, and synthesis</a:t>
            </a:r>
          </a:p>
        </p:txBody>
      </p:sp>
      <p:sp>
        <p:nvSpPr>
          <p:cNvPr id="10" name="Rectangle 9">
            <a:extLst>
              <a:ext uri="{FF2B5EF4-FFF2-40B4-BE49-F238E27FC236}">
                <a16:creationId xmlns:a16="http://schemas.microsoft.com/office/drawing/2014/main" id="{B5BE9998-4876-43F1-B927-61A9BD5C1EE8}"/>
              </a:ext>
            </a:extLst>
          </p:cNvPr>
          <p:cNvSpPr>
            <a:spLocks noGrp="1"/>
          </p:cNvSpPr>
          <p:nvPr/>
        </p:nvSpPr>
        <p:spPr>
          <a:xfrm>
            <a:off x="8248650" y="1428750"/>
            <a:ext cx="3143250" cy="419100"/>
          </a:xfrm>
          <a:prstGeom prst="rect">
            <a:avLst/>
          </a:prstGeom>
          <a:noFill/>
          <a:ln w="0">
            <a:noFill/>
          </a:ln>
        </p:spPr>
        <p:txBody>
          <a:bodyPr anchor="t">
            <a:normAutofit/>
          </a:bodyPr>
          <a:lstStyle/>
          <a:p>
            <a:pPr algn="l">
              <a:defRPr sz="1950" b="1" i="0">
                <a:solidFill>
                  <a:srgbClr val="0B3D91"/>
                </a:solidFill>
                <a:latin typeface="Arial"/>
                <a:ea typeface="Arial"/>
                <a:cs typeface="Arial"/>
              </a:defRPr>
            </a:pPr>
            <a:r>
              <a:rPr sz="1950" b="1" i="0">
                <a:solidFill>
                  <a:srgbClr val="0B3D91"/>
                </a:solidFill>
                <a:latin typeface="Arial"/>
                <a:ea typeface="Arial"/>
                <a:cs typeface="Arial"/>
              </a:rPr>
              <a:t>Ramil Məmmədəliyev</a:t>
            </a:r>
          </a:p>
        </p:txBody>
      </p:sp>
      <p:sp>
        <p:nvSpPr>
          <p:cNvPr id="11" name="Rectangle 10">
            <a:extLst>
              <a:ext uri="{FF2B5EF4-FFF2-40B4-BE49-F238E27FC236}">
                <a16:creationId xmlns:a16="http://schemas.microsoft.com/office/drawing/2014/main" id="{579FF5DC-D4BE-45EF-BE10-293A6DC13AE7}"/>
              </a:ext>
            </a:extLst>
          </p:cNvPr>
          <p:cNvSpPr>
            <a:spLocks noGrp="1"/>
          </p:cNvSpPr>
          <p:nvPr/>
        </p:nvSpPr>
        <p:spPr>
          <a:xfrm>
            <a:off x="8248650" y="1962150"/>
            <a:ext cx="3143250" cy="876300"/>
          </a:xfrm>
          <a:prstGeom prst="rect">
            <a:avLst/>
          </a:prstGeom>
          <a:noFill/>
          <a:ln w="0">
            <a:noFill/>
          </a:ln>
        </p:spPr>
        <p:txBody>
          <a:bodyPr anchor="t">
            <a:normAutofit/>
          </a:bodyPr>
          <a:lstStyle/>
          <a:p>
            <a:pPr algn="l">
              <a:defRPr sz="1500" b="0" i="0">
                <a:solidFill>
                  <a:srgbClr val="14213D"/>
                </a:solidFill>
                <a:latin typeface="Arial"/>
                <a:ea typeface="Arial"/>
                <a:cs typeface="Arial"/>
              </a:defRPr>
            </a:pPr>
            <a:r>
              <a:rPr sz="1500" b="0" i="0">
                <a:solidFill>
                  <a:srgbClr val="14213D"/>
                </a:solidFill>
                <a:latin typeface="Arial"/>
                <a:ea typeface="Arial"/>
                <a:cs typeface="Arial"/>
              </a:rPr>
              <a:t>Storage and configuration</a:t>
            </a:r>
          </a:p>
          <a:p>
            <a:pPr algn="l">
              <a:defRPr sz="1500" b="0" i="0">
                <a:solidFill>
                  <a:srgbClr val="14213D"/>
                </a:solidFill>
                <a:latin typeface="Arial"/>
                <a:ea typeface="Arial"/>
                <a:cs typeface="Arial"/>
              </a:defRPr>
            </a:pPr>
            <a:r>
              <a:rPr sz="1500" b="0" i="0">
                <a:solidFill>
                  <a:srgbClr val="14213D"/>
                </a:solidFill>
                <a:latin typeface="Arial"/>
                <a:ea typeface="Arial"/>
                <a:cs typeface="Arial"/>
              </a:rPr>
              <a:t>Scripts, packaging, and Docker</a:t>
            </a:r>
          </a:p>
        </p:txBody>
      </p:sp>
      <p:sp>
        <p:nvSpPr>
          <p:cNvPr id="12" name="Straight Connector 11">
            <a:extLst>
              <a:ext uri="{FF2B5EF4-FFF2-40B4-BE49-F238E27FC236}">
                <a16:creationId xmlns:a16="http://schemas.microsoft.com/office/drawing/2014/main" id="{07AA29D2-91B5-4EA1-999F-8A88DA95E74C}"/>
              </a:ext>
            </a:extLst>
          </p:cNvPr>
          <p:cNvSpPr>
            <a:spLocks noGrp="1"/>
          </p:cNvSpPr>
          <p:nvPr/>
        </p:nvSpPr>
        <p:spPr>
          <a:xfrm>
            <a:off x="781050" y="3181350"/>
            <a:ext cx="10610850" cy="0"/>
          </a:xfrm>
          <a:prstGeom prst="line">
            <a:avLst/>
          </a:prstGeom>
          <a:ln w="11430">
            <a:solidFill>
              <a:srgbClr val="D6DCE7"/>
            </a:solidFill>
            <a:prstDash val="solid"/>
          </a:ln>
        </p:spPr>
        <p:txBody>
          <a:bodyPr/>
          <a:lstStyle/>
          <a:p>
            <a:endParaRPr lang="en-US"/>
          </a:p>
        </p:txBody>
      </p:sp>
      <p:sp>
        <p:nvSpPr>
          <p:cNvPr id="13" name="Rectangle 12">
            <a:extLst>
              <a:ext uri="{FF2B5EF4-FFF2-40B4-BE49-F238E27FC236}">
                <a16:creationId xmlns:a16="http://schemas.microsoft.com/office/drawing/2014/main" id="{78D06832-F691-4858-B141-4E83514B6937}"/>
              </a:ext>
            </a:extLst>
          </p:cNvPr>
          <p:cNvSpPr>
            <a:spLocks noGrp="1"/>
          </p:cNvSpPr>
          <p:nvPr/>
        </p:nvSpPr>
        <p:spPr>
          <a:xfrm>
            <a:off x="3333750" y="3829050"/>
            <a:ext cx="5524500" cy="857250"/>
          </a:xfrm>
          <a:prstGeom prst="rect">
            <a:avLst/>
          </a:prstGeom>
          <a:noFill/>
          <a:ln w="0">
            <a:noFill/>
          </a:ln>
        </p:spPr>
        <p:txBody>
          <a:bodyPr anchor="t">
            <a:normAutofit/>
          </a:bodyPr>
          <a:lstStyle/>
          <a:p>
            <a:pPr algn="ctr">
              <a:defRPr sz="4050" b="1" i="0">
                <a:solidFill>
                  <a:srgbClr val="0B3D91"/>
                </a:solidFill>
                <a:latin typeface="Arial"/>
                <a:ea typeface="Arial"/>
                <a:cs typeface="Arial"/>
              </a:defRPr>
            </a:pPr>
            <a:r>
              <a:rPr sz="4050" b="1" i="0">
                <a:solidFill>
                  <a:srgbClr val="0B3D91"/>
                </a:solidFill>
                <a:latin typeface="Arial"/>
                <a:ea typeface="Arial"/>
                <a:cs typeface="Arial"/>
              </a:rPr>
              <a:t>Questions?</a:t>
            </a:r>
          </a:p>
        </p:txBody>
      </p:sp>
      <p:sp>
        <p:nvSpPr>
          <p:cNvPr id="14" name="Rectangle 13">
            <a:extLst>
              <a:ext uri="{FF2B5EF4-FFF2-40B4-BE49-F238E27FC236}">
                <a16:creationId xmlns:a16="http://schemas.microsoft.com/office/drawing/2014/main" id="{BAB02ED8-0A35-478C-9BE7-92A3A6EF9E5A}"/>
              </a:ext>
            </a:extLst>
          </p:cNvPr>
          <p:cNvSpPr>
            <a:spLocks noGrp="1"/>
          </p:cNvSpPr>
          <p:nvPr/>
        </p:nvSpPr>
        <p:spPr>
          <a:xfrm>
            <a:off x="2571750" y="4933950"/>
            <a:ext cx="7048500" cy="619125"/>
          </a:xfrm>
          <a:prstGeom prst="rect">
            <a:avLst/>
          </a:prstGeom>
          <a:noFill/>
          <a:ln w="0">
            <a:noFill/>
          </a:ln>
        </p:spPr>
        <p:txBody>
          <a:bodyPr anchor="t">
            <a:normAutofit/>
          </a:bodyPr>
          <a:lstStyle/>
          <a:p>
            <a:pPr algn="ctr">
              <a:defRPr sz="1725" b="0" i="0">
                <a:solidFill>
                  <a:srgbClr val="14213D"/>
                </a:solidFill>
                <a:latin typeface="Arial"/>
                <a:ea typeface="Arial"/>
                <a:cs typeface="Arial"/>
              </a:defRPr>
            </a:pPr>
            <a:r>
              <a:rPr sz="1725" b="0" i="0">
                <a:solidFill>
                  <a:srgbClr val="14213D"/>
                </a:solidFill>
                <a:latin typeface="Arial"/>
                <a:ea typeface="Arial"/>
                <a:cs typeface="Arial"/>
              </a:rPr>
              <a:t>We can explain the architecture, trade-offs, and request flow, then demonstrate the system live.</a:t>
            </a:r>
          </a:p>
        </p:txBody>
      </p:sp>
      <p:sp>
        <p:nvSpPr>
          <p:cNvPr id="15" name="Rectangle 14">
            <a:extLst>
              <a:ext uri="{FF2B5EF4-FFF2-40B4-BE49-F238E27FC236}">
                <a16:creationId xmlns:a16="http://schemas.microsoft.com/office/drawing/2014/main" id="{9A7EFB5F-55BB-48C6-8C1C-D8FFB760121B}"/>
              </a:ext>
            </a:extLst>
          </p:cNvPr>
          <p:cNvSpPr>
            <a:spLocks noGrp="1"/>
          </p:cNvSpPr>
          <p:nvPr/>
        </p:nvSpPr>
        <p:spPr>
          <a:xfrm>
            <a:off x="2333625" y="5867400"/>
            <a:ext cx="7524750" cy="247650"/>
          </a:xfrm>
          <a:prstGeom prst="rect">
            <a:avLst/>
          </a:prstGeom>
          <a:noFill/>
          <a:ln w="0">
            <a:noFill/>
          </a:ln>
        </p:spPr>
        <p:txBody>
          <a:bodyPr anchor="t">
            <a:normAutofit fontScale="91111"/>
          </a:bodyPr>
          <a:lstStyle/>
          <a:p>
            <a:pPr algn="ctr">
              <a:defRPr sz="1125" b="0" i="0">
                <a:solidFill>
                  <a:srgbClr val="0B3D91"/>
                </a:solidFill>
                <a:latin typeface="Arial"/>
                <a:ea typeface="Arial"/>
                <a:cs typeface="Arial"/>
              </a:defRPr>
            </a:pPr>
            <a:r>
              <a:rPr sz="1125" b="0" i="0">
                <a:solidFill>
                  <a:srgbClr val="0B3D91"/>
                </a:solidFill>
                <a:latin typeface="Arial"/>
                <a:ea typeface="Arial"/>
                <a:cs typeface="Arial"/>
              </a:rPr>
              <a:t>github.com/Hasanov57/AI-Academy---SE---Final-Project---AI-Researcher</a:t>
            </a:r>
          </a:p>
        </p:txBody>
      </p:sp>
    </p:spTree>
    <p:extLst>
      <p:ext uri="{BB962C8B-B14F-4D97-AF65-F5344CB8AC3E}">
        <p14:creationId xmlns:p14="http://schemas.microsoft.com/office/powerpoint/2010/main" val="189150989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DocSecurity>0</DocSecurity>
  <PresentationFormat>Widescreen</PresentationFormat>
  <Paragraphs>182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samir hesenov</cp:lastModifiedBy>
  <cp:revision>1</cp:revision>
  <dcterms:created xsi:type="dcterms:W3CDTF">2026-09-17T19:28:41Z</dcterms:created>
  <dcterms:modified xsi:type="dcterms:W3CDTF">2026-09-17T20:42:40Z</dcterms:modified>
</cp:coreProperties>
</file>